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95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Complete Training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→ ES6+ → Loops → Arrays → Modules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048" y="2304288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2304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82112" y="2304288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182112" y="2304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0176" y="2304288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980176" y="23042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2816352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816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82112" y="2816352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2816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for/while Loops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0176" y="2816352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980176" y="2816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forEach/for..of/for..in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" y="3328416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3284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82112" y="3328416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182112" y="33284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0176" y="3328416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980176" y="332841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Rest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4048" y="3840480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82112" y="3840480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182112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0176" y="3840480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5980176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2803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Training  •  HTML → CSS → JavaScript → React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02809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Variables &amp; Data Types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let, const, var • Primitive vs Reference types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91256" y="987552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E67E22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7899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Functions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0128" y="1444752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Declaration, Expression, Arrow, Callback, Constructor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98464" y="987552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00A896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17336" y="1078992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17336" y="1444752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• while • forEach • for..of • for..in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2167128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8E44AD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25856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ES6+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62432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fns, Destructuring, Spread/Rest, Template literals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91256" y="2167128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2980B9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225856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Array &amp; String Methods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262432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reduce, slice, splice + 10 more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98464" y="2167128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27AE6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17336" y="2258568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Modules &amp; Problem Statements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17336" y="2624328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+ 6 hands-on exercises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Variables &amp; Data Types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• const • var • Primitive vs Reference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3310128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let, const, var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store data so it can be reused and changed in a program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5029200" cy="3127248"/>
          </a:xfrm>
          <a:prstGeom prst="roundRect">
            <a:avLst>
              <a:gd name="adj" fmla="val 2339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60704"/>
            <a:ext cx="4773168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"Amit";    // can be reassigned later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 = 25;      // fixed, cannot be reassigned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city   = "Delhi"; // old style — avoid in modern JS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BLOCK SCOPE DEMO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 a = 10;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 = 20;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 c = 30;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console.log(c); // ✅ 30  — var leaks OUT of block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console.log(a); // ❌ ReferenceError: a is not defined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console.log(b); // ❌ ReferenceError: b is not defined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969264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4416" y="969264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0" y="969264"/>
            <a:ext cx="8229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969264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Re-declare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06640" y="969264"/>
            <a:ext cx="8229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43216" y="969264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Re-assign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969264"/>
            <a:ext cx="8046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96926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261872"/>
            <a:ext cx="1005840" cy="310896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4416" y="1261872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261872"/>
            <a:ext cx="822960" cy="310896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1261872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1261872"/>
            <a:ext cx="822960" cy="310896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1261872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1261872"/>
            <a:ext cx="804672" cy="310896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6176" y="1261872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1572768"/>
            <a:ext cx="1005840" cy="310896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4416" y="1572768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572768"/>
            <a:ext cx="822960" cy="310896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1572768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1572768"/>
            <a:ext cx="822960" cy="310896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1572768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1572768"/>
            <a:ext cx="804672" cy="310896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1572768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1883664"/>
            <a:ext cx="1005840" cy="310896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1883664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1883664"/>
            <a:ext cx="822960" cy="310896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0256" y="1883664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1883664"/>
            <a:ext cx="822960" cy="310896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1883664"/>
            <a:ext cx="786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1883664"/>
            <a:ext cx="804672" cy="310896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1883664"/>
            <a:ext cx="768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212848"/>
            <a:ext cx="3364992" cy="640080"/>
          </a:xfrm>
          <a:prstGeom prst="roundRect">
            <a:avLst>
              <a:gd name="adj" fmla="val 10000"/>
            </a:avLst>
          </a:prstGeom>
          <a:solidFill>
            <a:srgbClr val="FFF9E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05856" y="2295144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Note: </a:t>
            </a:r>
            <a:r>
              <a:rPr lang="en-US" sz="11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const by default. Switch to let only when you need to reassign. Never use var in modern code.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169664"/>
            <a:ext cx="8412480" cy="877824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4242816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3776" y="4498848"/>
            <a:ext cx="815644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difference between let and const?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should we avoid using var?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 you reassign a const variable?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in JavaScript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has a type — JavaScript has 7 primitive + 3 reference types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160520" cy="4005072"/>
          </a:xfrm>
          <a:prstGeom prst="roundRect">
            <a:avLst>
              <a:gd name="adj" fmla="val 2283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Primitive Types  (stored by VALUE)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886200" cy="338328"/>
          </a:xfrm>
          <a:prstGeom prst="roundRect">
            <a:avLst>
              <a:gd name="adj" fmla="val 16216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0" y="137160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"Amit", 'Hello'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3886200" cy="338328"/>
          </a:xfrm>
          <a:prstGeom prst="roundRect">
            <a:avLst>
              <a:gd name="adj" fmla="val 16216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5564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1755648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 3.14, -100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3886200" cy="338328"/>
          </a:xfrm>
          <a:prstGeom prst="roundRect">
            <a:avLst>
              <a:gd name="adj" fmla="val 16216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3969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2139696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true, false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523744"/>
            <a:ext cx="3886200" cy="338328"/>
          </a:xfrm>
          <a:prstGeom prst="roundRect">
            <a:avLst>
              <a:gd name="adj" fmla="val 16216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2374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2523744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city;  // no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907792"/>
            <a:ext cx="3886200" cy="338328"/>
          </a:xfrm>
          <a:prstGeom prst="roundRect">
            <a:avLst>
              <a:gd name="adj" fmla="val 16216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0779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0" y="2907792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null;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3886200" cy="338328"/>
          </a:xfrm>
          <a:prstGeom prst="roundRect">
            <a:avLst>
              <a:gd name="adj" fmla="val 16216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9184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3291840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12345678901234567890n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675888"/>
            <a:ext cx="3886200" cy="338328"/>
          </a:xfrm>
          <a:prstGeom prst="roundRect">
            <a:avLst>
              <a:gd name="adj" fmla="val 16216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7588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828800" y="3675888"/>
            <a:ext cx="2468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Symbol('id')  // unique key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950976"/>
            <a:ext cx="4114800" cy="4005072"/>
          </a:xfrm>
          <a:prstGeom prst="roundRect">
            <a:avLst>
              <a:gd name="adj" fmla="val 2283"/>
            </a:avLst>
          </a:prstGeom>
          <a:solidFill>
            <a:srgbClr val="E8F8F5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Reference Types  (stored by REFERENCE)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46320" y="1353312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83480" y="1444752"/>
            <a:ext cx="358444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— key:value pairs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 =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"Rashmi",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 = "Priya"; // mutable ✅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944368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83480" y="3035808"/>
            <a:ext cx="3584448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— ordered list (index:0)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["Apple","Banana","Mango"];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fruits.push("Kiwi"); // mutable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console.log(fruits[0]); // "Apple"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5010912"/>
            <a:ext cx="8412480" cy="73152"/>
          </a:xfrm>
          <a:prstGeom prst="roundRect">
            <a:avLst>
              <a:gd name="adj" fmla="val 87500"/>
            </a:avLst>
          </a:prstGeom>
          <a:solidFill>
            <a:srgbClr val="FFF9E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5093208"/>
            <a:ext cx="8156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Note: </a:t>
            </a:r>
            <a:r>
              <a:rPr lang="en-US" sz="11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Primitive: changing a copy does NOT affect original. Reference: both variables point to SAME memory.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Functions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• Expression • Arrow • Callback • Constructor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3310128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— Basics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block of code that performs a specific task when called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846320" cy="35204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42416"/>
            <a:ext cx="4590288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SYNTAX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functionName(parameters)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code block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  // sends value back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greetUser(name)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"Hello, " + name + "!";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console.log(greetUser("Rashmi")); // Hello, Rashmi!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multiple parameters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console.log(add(5, 3)); // 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49240" y="950976"/>
            <a:ext cx="3474720" cy="950976"/>
          </a:xfrm>
          <a:prstGeom prst="roundRect">
            <a:avLst>
              <a:gd name="adj" fmla="val 8654"/>
            </a:avLst>
          </a:prstGeom>
          <a:solidFill>
            <a:srgbClr val="02809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77256" y="103327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77256" y="1335024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listed in function definition. They are placeholders that receive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1956816"/>
            <a:ext cx="3474720" cy="950976"/>
          </a:xfrm>
          <a:prstGeom prst="roundRect">
            <a:avLst>
              <a:gd name="adj" fmla="val 8654"/>
            </a:avLst>
          </a:prstGeom>
          <a:solidFill>
            <a:srgbClr val="02809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77256" y="203911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77256" y="2340864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values you pass when CALLING the function.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2962656"/>
            <a:ext cx="3474720" cy="950976"/>
          </a:xfrm>
          <a:prstGeom prst="roundRect">
            <a:avLst>
              <a:gd name="adj" fmla="val 8654"/>
            </a:avLst>
          </a:prstGeom>
          <a:solidFill>
            <a:srgbClr val="02809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77256" y="304495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77256" y="3346704"/>
            <a:ext cx="32186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result back. Without return, function returns undefined.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44568"/>
            <a:ext cx="8412480" cy="530352"/>
          </a:xfrm>
          <a:prstGeom prst="roundRect">
            <a:avLst>
              <a:gd name="adj" fmla="val 15517"/>
            </a:avLst>
          </a:prstGeom>
          <a:solidFill>
            <a:srgbClr val="EAF7F0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" y="4626864"/>
            <a:ext cx="8156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Problem Statement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" y="4937760"/>
            <a:ext cx="8156448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accepts salary + years of experience.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Experience &gt; 5 years → add 10% bonus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Otherwise → add 5% bonus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salary=50000, exp=6  →  Output: Final Salary: 55000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Functions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different ways to define functions — each with its own purpose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224528" cy="1298448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05840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280160"/>
            <a:ext cx="396849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add(2, 3); //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Hoisted — can call before definition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73168" y="932688"/>
            <a:ext cx="4224528" cy="1298448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005840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Expression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1184" y="1280160"/>
            <a:ext cx="396849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function(a, b)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add(2, 3); //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NOT hoisted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224528" cy="1298448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" y="2359152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2633472"/>
            <a:ext cx="396849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(name)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"Hello " + name;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Short form (implicit return)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name =&gt; "Hello " + name;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2286000"/>
            <a:ext cx="4224528" cy="1298448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01184" y="2359152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Function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1184" y="2633472"/>
            <a:ext cx="396849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setTimeout(function()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console.log("Hello");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1000);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name — used only once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4224528" cy="1298448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" y="3712464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Function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" y="3986784"/>
            <a:ext cx="396849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greet(callback)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callback();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greet(function()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console.log("Hi!");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73168" y="3639312"/>
            <a:ext cx="4224528" cy="1298448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01184" y="3712464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Function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1184" y="3986784"/>
            <a:ext cx="396849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Student(name, age)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this.name = name;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this.age  = age;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s1 = new Student("Alex", 20);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8412480" cy="201168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4965192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" y="5221224"/>
            <a:ext cx="8156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key difference between function declaration and expression?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a callback function — give one real example?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 arrow functions use the new keyword like constructors?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Conditionals &amp; Loops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• switch • for • while • forEach • for..of • for..in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3310128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only when a specific condition is true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224528" cy="1847088"/>
          </a:xfrm>
          <a:prstGeom prst="roundRect">
            <a:avLst>
              <a:gd name="adj" fmla="val 4455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05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if condition is true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" y="1481328"/>
            <a:ext cx="39319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console.log("Eligible to vote");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73168" y="932688"/>
            <a:ext cx="4224528" cy="1847088"/>
          </a:xfrm>
          <a:prstGeom prst="roundRect">
            <a:avLst>
              <a:gd name="adj" fmla="val 4455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01184" y="1005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01184" y="12618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/ or — two paths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01184" y="1481328"/>
            <a:ext cx="39319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console.log("Eligible");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console.log("Not eligible");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224528" cy="1847088"/>
          </a:xfrm>
          <a:prstGeom prst="roundRect">
            <a:avLst>
              <a:gd name="adj" fmla="val 4455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" y="2926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 if...else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" y="31821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conditions check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" y="3401568"/>
            <a:ext cx="39319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(marks &gt;= 90) { console.log("A");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(marks &gt;= 75) { console.log("B");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(marks &gt;= 60) { console.log("C");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 console.log("Fail"); 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73168" y="2852928"/>
            <a:ext cx="4224528" cy="1847088"/>
          </a:xfrm>
          <a:prstGeom prst="roundRect">
            <a:avLst>
              <a:gd name="adj" fmla="val 4455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01184" y="2926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1184" y="31821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vs many options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01184" y="3401568"/>
            <a:ext cx="39319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console.log("Mon");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 console.log("Tue");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3: console.log("Wed"); break;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console.log("Invalid");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882896"/>
            <a:ext cx="8412480" cy="201168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4956048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" y="5212080"/>
            <a:ext cx="8156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When is switch better than if...else if?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break do in a switch statement?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— for &amp; while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 block of code until a condition is met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06240" cy="2240280"/>
          </a:xfrm>
          <a:prstGeom prst="roundRect">
            <a:avLst>
              <a:gd name="adj" fmla="val 4082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know exactly how many times to repeat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64208"/>
            <a:ext cx="367588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(init; condition; update) { code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 // 1 2 3 4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Loop through an array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names = ["Anu","Bob","Cid"];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i&lt;names.length;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console.log(names[i]);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50976"/>
            <a:ext cx="4069080" cy="2240280"/>
          </a:xfrm>
          <a:prstGeom prst="roundRect">
            <a:avLst>
              <a:gd name="adj" fmla="val 4082"/>
            </a:avLst>
          </a:prstGeom>
          <a:solidFill>
            <a:srgbClr val="E8F8F5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while Loop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don't know how many times in advance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572768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664208"/>
            <a:ext cx="358444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(condition) { code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&lt;= 5)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 // 1 2 3 4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i++;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 world use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input;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(input !== "exit")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= prompt("Type exit to stop:");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300984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count-based  (know the number upfront)         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condition-based  (keep going until something is false)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078224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" y="4334256"/>
            <a:ext cx="815644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a for loop to print multiplication table of 5 (5×1 to 5×10).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When would while loop cause an infinite loop? How to prevent it?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882896"/>
            <a:ext cx="8412480" cy="201168"/>
          </a:xfrm>
          <a:prstGeom prst="roundRect">
            <a:avLst>
              <a:gd name="adj" fmla="val 31818"/>
            </a:avLst>
          </a:prstGeom>
          <a:solidFill>
            <a:srgbClr val="FFF9E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4965192"/>
            <a:ext cx="8156448" cy="54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Note: </a:t>
            </a:r>
            <a:r>
              <a:rPr lang="en-US" sz="11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do...while loop runs at least ONCE even if condition is false: do { code } while(condition);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• for..of • for..in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modern ways to loop — each designed for a different purpose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24528" cy="2907792"/>
          </a:xfrm>
          <a:prstGeom prst="roundRect">
            <a:avLst>
              <a:gd name="adj" fmla="val 2830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24128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forEach()  — loop over array elements (no return value)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298448"/>
            <a:ext cx="396849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["Apple","Banana","Mango"];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fruits.forEach(function(fruit)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console.log(fruit);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Apple  Banana  Mango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version (cleaner)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fruits.forEach(fruit =&gt; console.log(fruit));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index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fruits.forEach((fruit, index)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console.log(index + ": " + fruit);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73168" y="950976"/>
            <a:ext cx="4041648" cy="2907792"/>
          </a:xfrm>
          <a:prstGeom prst="roundRect">
            <a:avLst>
              <a:gd name="adj" fmla="val 2830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024128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for..of  — loop over iterable VALUES (arrays, strings)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1184" y="1298448"/>
            <a:ext cx="378561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["Apple","Banana","Mango"];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fruit of fruits)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console.log(fruit);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Apple  Banana  Mango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Works on strings too!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"Rashmi";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char of name)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console.log(char); // R a s h m 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4224528" cy="1078992"/>
          </a:xfrm>
          <a:prstGeom prst="roundRect">
            <a:avLst>
              <a:gd name="adj" fmla="val 7627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" y="39959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for..in  — loop over object KEYS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426110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 = { name:"Rashmi", age:25, city:"Delhi"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key in user)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console.log(key + ": " + user[key]);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// name: Rashmi  age: 25  city: Delhi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3931920"/>
            <a:ext cx="9601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931920"/>
            <a:ext cx="923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33288" y="3931920"/>
            <a:ext cx="12344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3931920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67728" y="3931920"/>
            <a:ext cx="10058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4304" y="393192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73568" y="3931920"/>
            <a:ext cx="12344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3931920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4187952"/>
            <a:ext cx="960120" cy="27432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4187952"/>
            <a:ext cx="923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33288" y="4187952"/>
            <a:ext cx="1234440" cy="27432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9864" y="4187952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67728" y="4187952"/>
            <a:ext cx="1005840" cy="27432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418795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73568" y="4187952"/>
            <a:ext cx="1234440" cy="274320"/>
          </a:xfrm>
          <a:prstGeom prst="rect">
            <a:avLst/>
          </a:prstGeom>
          <a:solidFill>
            <a:srgbClr val="F0FF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0144" y="4187952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use break/continue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4462272"/>
            <a:ext cx="960120" cy="274320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4462272"/>
            <a:ext cx="923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for..of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33288" y="4462272"/>
            <a:ext cx="1234440" cy="274320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9864" y="4462272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sets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67728" y="4462272"/>
            <a:ext cx="1005840" cy="274320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304" y="446227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values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73568" y="4462272"/>
            <a:ext cx="1234440" cy="274320"/>
          </a:xfrm>
          <a:prstGeom prst="rect">
            <a:avLst/>
          </a:prstGeom>
          <a:solidFill>
            <a:srgbClr val="FF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0144" y="4462272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iterable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4736592"/>
            <a:ext cx="960120" cy="274320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4736592"/>
            <a:ext cx="923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33288" y="4736592"/>
            <a:ext cx="1234440" cy="274320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9864" y="4736592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67728" y="4736592"/>
            <a:ext cx="1005840" cy="274320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04304" y="4736592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names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973568" y="4736592"/>
            <a:ext cx="1234440" cy="274320"/>
          </a:xfrm>
          <a:prstGeom prst="rect">
            <a:avLst/>
          </a:prstGeom>
          <a:solidFill>
            <a:srgbClr val="FFFDE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10144" y="4736592"/>
            <a:ext cx="1197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objects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5065776"/>
            <a:ext cx="8412480" cy="18288"/>
          </a:xfrm>
          <a:prstGeom prst="roundRect">
            <a:avLst>
              <a:gd name="adj" fmla="val 400000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5138928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93776" y="5394960"/>
            <a:ext cx="8156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difference between forEach and for..of?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loop would you use to iterate over an object's properties?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ES6+ Features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• Template Literals • Destructuring • Spread/Rest • Default Params • Modules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3310128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(ES6)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shorter, cleaner way to write functions — introduced in ES2015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84632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42416"/>
            <a:ext cx="4590288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STEP 1: Traditional function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 return a + b; 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STEP 2: Function expression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function(a, b) { return a + b; 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STEP 3: Arrow function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{ return a + b; };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STEP 4: Implicit return (no braces needed)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a + b;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Single param — no brackets needed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= n =&gt; n * 2;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No params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() =&gt; "Hello World!";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49240" y="950976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77256" y="103327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Arrow Fn Advantages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77256" y="1335024"/>
            <a:ext cx="3218688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Shorter, cleaner syntax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own this keyword (inherits from parent)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for callbacks and array methods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2258568"/>
            <a:ext cx="3474720" cy="123444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77256" y="2340864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When NOT to use Arrow Fns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77256" y="2642616"/>
            <a:ext cx="3218688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 methods (this won't work correctly)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Constructor functions (new keyword fails)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Functions that need their own this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3566160"/>
            <a:ext cx="3474720" cy="1316736"/>
          </a:xfrm>
          <a:prstGeom prst="roundRect">
            <a:avLst>
              <a:gd name="adj" fmla="val 555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657600"/>
            <a:ext cx="3218688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array methods (most common use)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 2, 3, 4, 5];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    = nums.map(n =&gt; n * n);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evens = nums.filter(n =&gt; n%2===0);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   = nums.reduce((a,b)=&gt;a+b,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console.log(sq);    // [1,4,9,16,25]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console.log(evens); // [2,4]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console.log(sum);   // 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956048"/>
            <a:ext cx="8412480" cy="137160"/>
          </a:xfrm>
          <a:prstGeom prst="roundRect">
            <a:avLst>
              <a:gd name="adj" fmla="val 53333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5029200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" y="5285232"/>
            <a:ext cx="8156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Rewrite:  function square(x) { return x*x; }  using arrow function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implicit return?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 arrow functions be used as constructors?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&amp; Default Parameters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features that make code cleaner and more readable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42416"/>
            <a:ext cx="4590288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 Literals — use backtick ( ` ) not quotes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"Rashmi";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 = 25;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OLD: string concatenation (messy)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console.log("Hello " + name + ", age: " + age);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NEW: template literal (clean)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console.log(`Hello ${name}, age: ${age}`);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Expressions inside ${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console.log(`Next year: ${age + 1}`);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Multi-line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 `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Dear ${name},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Welcome to JS!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console.log(msg);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64608" y="950976"/>
            <a:ext cx="3959352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01768" y="1042416"/>
            <a:ext cx="370332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PARAMETERS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 = "Student")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`Hello ${name}!`;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greet();        // Hello Student!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greet("Amit");  // Hello Amit!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SHORT-HAND PROPERTY NAMES (ES6)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username = "Rashmi";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userage  = 25;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OLD: { username: username, userage: userage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(short-hand):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username, userage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username: "Rashmi", userage: 25 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4590288"/>
            <a:ext cx="8412480" cy="493776"/>
          </a:xfrm>
          <a:prstGeom prst="roundRect">
            <a:avLst>
              <a:gd name="adj" fmla="val 12963"/>
            </a:avLst>
          </a:prstGeom>
          <a:solidFill>
            <a:srgbClr val="FFF9E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467258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Note: </a:t>
            </a:r>
            <a:r>
              <a:rPr lang="en-US" sz="11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use backtick not quotes. Variables/expressions go inside ${ }. Multi-line works without special characters.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(ES6)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values from arrays and objects into clean, named variables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24528" cy="4059936"/>
          </a:xfrm>
          <a:prstGeom prst="roundRect">
            <a:avLst>
              <a:gd name="adj" fmla="val 2252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Array Destructuring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3931920" cy="361188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26464"/>
            <a:ext cx="3675888" cy="344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fruits = ["Apple","Banana","Mango"];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way (messy)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f0 = fruits[0];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f1 = fruits[1];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95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Destructuring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[first, second, third] = fruits;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console.log(first);  // Apple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console.log(third);  // Mango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 elements using comma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[, , last] = fruits;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console.log(last); // Mango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values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[a, b, c, d="Kiwi"] = fruits;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console.log(d); // Kiwi (not in array)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73168" y="950976"/>
            <a:ext cx="4050792" cy="4059936"/>
          </a:xfrm>
          <a:prstGeom prst="roundRect">
            <a:avLst>
              <a:gd name="adj" fmla="val 2257"/>
            </a:avLst>
          </a:prstGeom>
          <a:solidFill>
            <a:srgbClr val="E8F8F5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Object Destructuring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10328" y="1335024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47488" y="1426464"/>
            <a:ext cx="3493008" cy="344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"Rashmi",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25,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"Delhi"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way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user.name;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 = user.age;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950" dirty="0" err="1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Destructuring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name, age, city } = user;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console.log(name); // Rashmi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RENAME while destructuring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city: location } = user;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console.log(location); // Delhi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role = "student" } = user;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console.log(role); //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065776"/>
            <a:ext cx="8412480" cy="18288"/>
          </a:xfrm>
          <a:prstGeom prst="roundRect">
            <a:avLst>
              <a:gd name="adj" fmla="val 400000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5138928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5394960"/>
            <a:ext cx="8156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 only 2nd and 3rd elements from array.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Destructure an object and rename 'city' to 'location'.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happens if you destructure a key that doesn't exist?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Rest Operators (ES6)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... but they do OPPOSITE things — context decides which 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24528" cy="4059936"/>
          </a:xfrm>
          <a:prstGeom prst="roundRect">
            <a:avLst>
              <a:gd name="adj" fmla="val 2252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Spread  ...  (EXPAND)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an array/object INTO individual elements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Merge arrays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[1, 2, 3];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[4, 5, 6];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merged = [...a, ...b];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console.log(merged); // [1,2,3,4,5,6]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 array (shallow)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copy = [...a];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element while spreading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 = [...a, 99, ...b];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Merge objects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obj1 = { name: "Rashmi"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obj2 = { role: "Dev"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full = { ...obj1, ...obj2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name:"Rashmi", role:"Dev"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Pass array as function args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[5, 12, 8, 130];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console.log(Math.max(...nums)); // 130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73168" y="950976"/>
            <a:ext cx="4050792" cy="4059936"/>
          </a:xfrm>
          <a:prstGeom prst="roundRect">
            <a:avLst>
              <a:gd name="adj" fmla="val 2257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Rest  ...  (COLLECT)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10328" y="12984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multiple values INTO a single array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0328" y="1572768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in function parameters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sum(...numbers)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numbers.reduce((a,b) =&gt; a+b,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sum(1, 2, 3);       // 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sum(10, 20, 30, 40);// 100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Normal + rest params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show(first, ...others)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console.log("First:", first);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console.log("Others:", others);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show("A","B","C","D");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First: 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Others: ["B","C","D"]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in array destructuring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[head, ...tail] = [1,2,3,4,5];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console.log(head); //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console.log(tail); // [2,3,4,5]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065776"/>
            <a:ext cx="8412480" cy="18288"/>
          </a:xfrm>
          <a:prstGeom prst="roundRect">
            <a:avLst>
              <a:gd name="adj" fmla="val 350000"/>
            </a:avLst>
          </a:prstGeom>
          <a:solidFill>
            <a:srgbClr val="FFF3E0"/>
          </a:solidFill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vs Rest — The Simple Rule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remember forever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50976"/>
            <a:ext cx="7863840" cy="804672"/>
          </a:xfrm>
          <a:prstGeom prst="roundRect">
            <a:avLst>
              <a:gd name="adj" fmla="val 1136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987552"/>
            <a:ext cx="7589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take an array, GIVE OUT individual items   ·   </a:t>
            </a: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take individual items, COLLECT into array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224528" cy="2423160"/>
          </a:xfrm>
          <a:prstGeom prst="roundRect">
            <a:avLst>
              <a:gd name="adj" fmla="val 339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" y="1947672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 action — expand 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2221992"/>
            <a:ext cx="3968496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  = ["Rice","Dal"];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extra = ["Oil","Sugar"];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Combine two arrays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fullCart = [...cart, ...extra];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["Rice","Dal","Oil","Sugar"]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 without link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backup = [...cart];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backup.push("Atta");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console.log(cart);   // ["Rice","Dal"] unchanged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console.log(backup); // ["Rice","Dal","Atta"]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73168" y="1874520"/>
            <a:ext cx="4050792" cy="2423160"/>
          </a:xfrm>
          <a:prstGeom prst="roundRect">
            <a:avLst>
              <a:gd name="adj" fmla="val 339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01184" y="19476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in action — collect 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01184" y="2221992"/>
            <a:ext cx="379476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printOrder(main, ...sides)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console.log("Main dish:", main);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console.log("Sides:", sides);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console.log("Total items:", 1+sides.length);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printOrder("Biryani","Raita","Salad","Papad");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 dish: Biryani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Sides: ["Raita","Salad","Papad"]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items: 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407408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4480560"/>
            <a:ext cx="8156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Quick Check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736592"/>
            <a:ext cx="81564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Merge arrays [1,2] and [3,4] using spread operator.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a function using rest that accepts any number of marks and returns their average.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the difference between: const b=[...a]  vs  const b=a ?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Arrays &amp; Array Methods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push/pop • shift/unshift • slice/splice • map/filter/reduce + more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3310128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Basics &amp; Add/Remove Methods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stores multiple values in a single variable (index starts at 0)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846320" cy="4096512"/>
          </a:xfrm>
          <a:prstGeom prst="roundRect">
            <a:avLst>
              <a:gd name="adj" fmla="val 178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42416"/>
            <a:ext cx="4590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 "Banana", "Mango"];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console.log(fruits[0]);      // Apple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console.log(fruits.length);  // 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push() — add to 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fruits.push("Kiwi");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["Apple","Banana","Mango","Kiwi"]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pop() — remove from END, returns 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last = fruits.pop();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console.log(last); // "Kiwi"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["Apple","Banana","Mango"]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unshift() — add to FRONT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fruits.unshift("Strawberry");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["Strawberry","Apple","Banana","Mango"]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shift() — remove from FRONT, returns 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 = fruits.shift();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console.log(first); // "Strawberry"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["Apple","Banana","Mango"]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49240" y="950976"/>
            <a:ext cx="347472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77256" y="102412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77256" y="129844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to END of array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fruits.push("Kiwi")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49240" y="1956816"/>
            <a:ext cx="347472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77256" y="20299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77256" y="230428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from END, returns removed element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49240" y="2962656"/>
            <a:ext cx="347472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77256" y="30358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unshift()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77256" y="331012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to FRONT of array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fruits.unshift("Mango")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3968496"/>
            <a:ext cx="347472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77256" y="40416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77256" y="4315968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from FRONT, returns removed element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5138928"/>
            <a:ext cx="4754880" cy="0"/>
          </a:xfrm>
          <a:prstGeom prst="roundRect">
            <a:avLst>
              <a:gd name="adj" fmla="val Infinity"/>
            </a:avLst>
          </a:prstGeom>
          <a:solidFill>
            <a:srgbClr val="FFF9E6"/>
          </a:solidFill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slice, splice, indexOf, includes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methods for finding and cutting array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24528" cy="2578608"/>
          </a:xfrm>
          <a:prstGeom prst="roundRect">
            <a:avLst>
              <a:gd name="adj" fmla="val 3191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24128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slice(start, end)  — COPY part of array (no change to original)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298448"/>
            <a:ext cx="3968496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["Apple","Banana","Mango","Kiwi","Grape"];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slice(startIndex, endIndex) — end is NOT included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part = fruits.slice(1, 3);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console.log(part);   // ["Banana", "Mango"]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console.log(fruits); // original UNCHANGED ✅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slice from index 2 to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rest = fruits.slice(2);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console.log(rest); // ["Mango","Kiwi","Grape"]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73168" y="950976"/>
            <a:ext cx="4050792" cy="2578608"/>
          </a:xfrm>
          <a:prstGeom prst="roundRect">
            <a:avLst>
              <a:gd name="adj" fmla="val 3191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0241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splice(start, deleteCount, ...items)  — ADD/REMOVE (modifies original!)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1184" y="1298448"/>
            <a:ext cx="379476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["Apple","Banana","Mango","Kiwi"];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2 elements from index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removed = fruits.splice(1, 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console.log(removed); // ["Banana","Mango"]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console.log(fruits);  // ["Apple","Kiwi"]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at index 1 (delete 0, add items)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fruits.splice(1, 0, "Papaya", "Guava");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console.log(fruits); // ["Apple","Papaya","Guava","Kiwi"]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630168"/>
            <a:ext cx="4224528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" y="3703320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indexOf()  — find position of element (-1 if not found)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3977640"/>
            <a:ext cx="3968496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[10, 20, 30, 20, 40];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console.log(nums.indexOf(20));    // 1 (first match)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console.log(nums.lastIndexOf(20));// 3 (last match)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console.log(nums.indexOf(99));    // -1 (not found)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3630168"/>
            <a:ext cx="4050792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01184" y="37033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includes()  — check if element exists (returns true/false)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1184" y="3977640"/>
            <a:ext cx="379476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colors = ["red", "green", "blue"];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console.log(colors.includes("green")); //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console.log(colors.includes("yellow"));// false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Useful in if conditions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(colors.includes("red")) { console.log("Red found!"); 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5120640"/>
            <a:ext cx="8412480" cy="0"/>
          </a:xfrm>
          <a:prstGeom prst="roundRect">
            <a:avLst>
              <a:gd name="adj" fmla="val Infinity"/>
            </a:avLst>
          </a:prstGeom>
          <a:solidFill>
            <a:srgbClr val="FFF9E6"/>
          </a:solidFill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map, filter, find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methods that take a function and return transformed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24528" cy="301752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24128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map()  — transform EVERY element → returns NEW array of same length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298448"/>
            <a:ext cx="3968496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3, 4, 5];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 every number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 = nums.map(n =&gt; n * 2);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console.log(doubled); // [2, 4, 6, 8, 10]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Square every number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squares = nums.map(n =&gt; n * n);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console.log(squares); // [1, 4, 9, 16, 25]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Transform objects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users = [{name:"Anu"},{name:"Bob"}];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names = users.map(u =&gt; u.name);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console.log(names); // ["Anu","Bob"]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73168" y="950976"/>
            <a:ext cx="4050792" cy="301752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0241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  — keep elements that pass a test → returns NEW array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1184" y="1298448"/>
            <a:ext cx="379476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3, 4, 5, 6, 7, 8];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Keep only even numbers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evens = nums.filter(n =&gt; n % 2 ===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console.log(evens); // [2, 4, 6, 8]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Keep only &gt;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big = nums.filter(n =&gt; n &gt; 5);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console.log(big); // [6, 7, 8]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objects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students = [{name:"A",marks:80},{name:"B",marks:45}];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passed = students.filter(s =&gt; s.marks &gt;= 50);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console.log(passed); // [{name:"A",marks:80}]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041648"/>
            <a:ext cx="4224528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" y="4114800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 — returns FIRST element that passes test (or undefined)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4389120"/>
            <a:ext cx="39684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[5, 12, 8, 130, 44];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 = nums.find(n =&gt; n &gt; 10);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console.log(first); // 12  ← first match only!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findIndex() — returns INDEX of first match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idx = nums.findIndex(n =&gt; n &gt; 10);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console.log(idx); //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4041648"/>
            <a:ext cx="4050792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01184" y="41148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some() &amp; every()  — test conditions on array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1184" y="4389120"/>
            <a:ext cx="37947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scores = [45, 78, 92, 33, 67];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some() → true if ANY element passes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console.log(scores.some(s =&gt; s &gt; 90));  //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every() → true if ALL elements pass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console.log(scores.every(s =&gt; s &gt; 30)); // true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5120640"/>
            <a:ext cx="8412480" cy="0"/>
          </a:xfrm>
          <a:prstGeom prst="roundRect">
            <a:avLst>
              <a:gd name="adj" fmla="val Infinity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reduce, sort, reverse, join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methods that transform entire arrays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24528" cy="2788920"/>
          </a:xfrm>
          <a:prstGeom prst="roundRect">
            <a:avLst>
              <a:gd name="adj" fmla="val 2951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24128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reduce()  — reduce array to a SINGLE value (sum, product, object)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298448"/>
            <a:ext cx="3968496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[1, 2, 3, 4, 5];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 of all numbers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 = nums.reduce((acc, curr) =&gt; acc + curr,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console.log(sum); // 15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 = accumulator (running total)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curr = current element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= initial value of accumulator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product = nums.reduce((acc,curr) =&gt; acc*curr, 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console.log(product); // 120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73168" y="950976"/>
            <a:ext cx="4050792" cy="2788920"/>
          </a:xfrm>
          <a:prstGeom prst="roundRect">
            <a:avLst>
              <a:gd name="adj" fmla="val 2951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0241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 — sorts array IN PLACE (modifies original)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1184" y="1298448"/>
            <a:ext cx="379476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["Banana","Apple","Mango"];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fruits.sort();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console.log(fruits); // ["Apple","Banana","Mango"]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Numeric sort — needs compare function!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nums = [10, 2, 40, 1, 5];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nums.sort((a, b) =&gt; a - b);  // ascending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console.log(nums); // [1, 2, 5, 10, 40]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nums.sort((a, b) =&gt; b - a);  // descending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console.log(nums); // [40, 10, 5, 2, 1]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822192"/>
            <a:ext cx="269748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" y="3895344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reverse()  — reverses array IN PLACE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4169664"/>
            <a:ext cx="244144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[1, 2, 3, 4, 5];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arr.reverse();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console.log(arr); // [5, 4, 3, 2, 1]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45536" y="3822192"/>
            <a:ext cx="269748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73552" y="3895344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  — array → string with separator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73552" y="4169664"/>
            <a:ext cx="244144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words = ["Hello","World","JS"];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console.log(words.join(" "));  // "Hello World JS"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console.log(words.join("-"));  // "Hello-World-JS"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25312" y="3822192"/>
            <a:ext cx="2898648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53328" y="3895344"/>
            <a:ext cx="2642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flat()  — flatten nested arrays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53328" y="4169664"/>
            <a:ext cx="264261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[1,[2,3],[4,[5,6]]];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arr.flat();    // [1,2,3,4,[5,6]]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arr.flat(2);   // [1,2,3,4,5,6]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5084064"/>
            <a:ext cx="8412480" cy="0"/>
          </a:xfrm>
          <a:prstGeom prst="roundRect">
            <a:avLst>
              <a:gd name="adj" fmla="val Infinity"/>
            </a:avLst>
          </a:prstGeom>
          <a:solidFill>
            <a:srgbClr val="EAF7F0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Copy vs Deep Copy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JavaScript copies arrays and objects in memory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875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Shallow Copy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copies top level only. Nested data is SHARED (same memory address).      </a:t>
            </a: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Deep Copy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copies everything. Completely independent.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8156448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SHALLOW COPY — spread operator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original = [1, 2, [10, 20]];  // nested array inside!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shallow  = [...original];      // shallow copy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shallow[0] = 999;        // Change primitive (index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shallow[2][0] = 777;     // Change nested array element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console.log(original); // [1, 2, [777, 20]]  ← nested CHANGED!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console.log(shallow);  // [999, 2, [777, 20]]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WHY? shallow[2] and original[2] point to the SAME nested array in memory!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Top-level items are independent. Nested items are SHARED.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785616"/>
            <a:ext cx="8412480" cy="1261872"/>
          </a:xfrm>
          <a:prstGeom prst="roundRect">
            <a:avLst>
              <a:gd name="adj" fmla="val 5797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877056"/>
            <a:ext cx="81564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 DEEP COPY — structuredClone() [modern, recommended]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original2 = [1, 2, [10, 20]];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deep = structuredClone(original2);  // completely independent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deep[0] = 999;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deep[2][0] = 777;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console.log(original2); // [1, 2, [10, 20]]  ← UNCHANGED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console.log(deep);      // [999, 2, [777, 20]]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structuredClone creates a brand new copy of every level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5120640"/>
            <a:ext cx="8412480" cy="0"/>
          </a:xfrm>
          <a:prstGeom prst="roundRect">
            <a:avLst>
              <a:gd name="adj" fmla="val Infinity"/>
            </a:avLst>
          </a:prstGeom>
          <a:solidFill>
            <a:srgbClr val="FFF9E6"/>
          </a:solidFill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JavaScript Modules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• export • Named &amp; Default • Why Modules Matter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3310128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Modules (ES6)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code into separate files — import and export functionality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4224528" cy="3090672"/>
          </a:xfrm>
          <a:prstGeom prst="roundRect">
            <a:avLst>
              <a:gd name="adj" fmla="val 266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24128"/>
            <a:ext cx="3968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Named Export  (multiple per file)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298448"/>
            <a:ext cx="3968496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math.js 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add(a, b) { return a + b;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multiply(a, b) { return a * b;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PI = 3.14159;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main.js ── (import by exact name in {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add, multiply, PI } from "./math.js";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      //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console.log(multiply(4, 5)); // 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console.log(PI);             // 3.14159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Rename on import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as sum } from "./math.js";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console.log(sum(2, 3)); //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73168" y="950976"/>
            <a:ext cx="4050792" cy="3090672"/>
          </a:xfrm>
          <a:prstGeom prst="roundRect">
            <a:avLst>
              <a:gd name="adj" fmla="val 2663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0241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Export  (only ONE per file)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01184" y="1298448"/>
            <a:ext cx="379476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greet.js ──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greet(name)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`Hello, ${name}!`;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main.js ── (import with ANY name, no {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sayHello from "./greet.js";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hi       from "./greet.js"; // also works!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console.log(sayHello("Rashmi")); // Hello, Rashmi!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Mix: named + default in one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class App {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version = "1.0.0";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import App, { version } from "./app.js";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1783080" cy="219456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4133088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48840" y="4133088"/>
            <a:ext cx="2852928" cy="219456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3704" y="4133088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01768" y="4133088"/>
            <a:ext cx="2852928" cy="219456"/>
          </a:xfrm>
          <a:prstGeom prst="rect">
            <a:avLst/>
          </a:prstGeom>
          <a:solidFill>
            <a:srgbClr val="02809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4133088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352544"/>
            <a:ext cx="1783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4352544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4352544"/>
            <a:ext cx="28529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03704" y="4352544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{ name 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01768" y="4352544"/>
            <a:ext cx="28529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4352544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default name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1783080" cy="219456"/>
          </a:xfrm>
          <a:prstGeom prst="rect">
            <a:avLst/>
          </a:prstGeom>
          <a:solidFill>
            <a:srgbClr val="F0F9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4572000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48840" y="4572000"/>
            <a:ext cx="2852928" cy="219456"/>
          </a:xfrm>
          <a:prstGeom prst="rect">
            <a:avLst/>
          </a:prstGeom>
          <a:solidFill>
            <a:srgbClr val="F0F9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03704" y="4572000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{ name } from 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01768" y="4572000"/>
            <a:ext cx="2852928" cy="219456"/>
          </a:xfrm>
          <a:prstGeom prst="rect">
            <a:avLst/>
          </a:prstGeom>
          <a:solidFill>
            <a:srgbClr val="F0F9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56632" y="4572000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anyName from ...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791456"/>
            <a:ext cx="17830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791456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48840" y="4791456"/>
            <a:ext cx="28529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03704" y="4791456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allowed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01768" y="4791456"/>
            <a:ext cx="28529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4791456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010912"/>
            <a:ext cx="1783080" cy="219456"/>
          </a:xfrm>
          <a:prstGeom prst="rect">
            <a:avLst/>
          </a:prstGeom>
          <a:solidFill>
            <a:srgbClr val="F0F9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5010912"/>
            <a:ext cx="1728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48840" y="5010912"/>
            <a:ext cx="2852928" cy="219456"/>
          </a:xfrm>
          <a:prstGeom prst="rect">
            <a:avLst/>
          </a:prstGeom>
          <a:solidFill>
            <a:srgbClr val="F0F9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03704" y="5010912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{ a as b }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01768" y="5010912"/>
            <a:ext cx="2852928" cy="219456"/>
          </a:xfrm>
          <a:prstGeom prst="rect">
            <a:avLst/>
          </a:prstGeom>
          <a:solidFill>
            <a:srgbClr val="F0F9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56632" y="5010912"/>
            <a:ext cx="2798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renameable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73168" y="4133088"/>
            <a:ext cx="4050792" cy="950976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420624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Quick Check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901184" y="446227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Can you have two default exports in one file?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do you import everything from a module as one object?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tree-shaking in module context?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Problem Statements 💻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you learned — hands-on coding exercises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0" y="3310128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Problem Statements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5852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problem using concepts from today's session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2743200" cy="1865376"/>
          </a:xfrm>
          <a:prstGeom prst="roundRect">
            <a:avLst>
              <a:gd name="adj" fmla="val 4902"/>
            </a:avLst>
          </a:prstGeom>
          <a:solidFill>
            <a:srgbClr val="EAF7F0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241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078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Array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252374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array of 5 names.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 all using forEach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 first &amp; last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6th using push()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 using .length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50976"/>
            <a:ext cx="2743200" cy="1865376"/>
          </a:xfrm>
          <a:prstGeom prst="roundRect">
            <a:avLst>
              <a:gd name="adj" fmla="val 4902"/>
            </a:avLst>
          </a:prstGeom>
          <a:solidFill>
            <a:srgbClr val="EAF7F0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0241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58768" y="1078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Counter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426464"/>
            <a:ext cx="252374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vowels in a string.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'JavaScript'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loop + includes()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950976"/>
            <a:ext cx="2743200" cy="1865376"/>
          </a:xfrm>
          <a:prstGeom prst="roundRect">
            <a:avLst>
              <a:gd name="adj" fmla="val 4902"/>
            </a:avLst>
          </a:prstGeom>
          <a:solidFill>
            <a:srgbClr val="EAF7F0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0241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93408" y="1078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Calculator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426464"/>
            <a:ext cx="252374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salary + exp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exp&gt;5 → +10% bonus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else → +5% bonus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Input:50000,6 → Output:55000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889504"/>
            <a:ext cx="2743200" cy="1865376"/>
          </a:xfrm>
          <a:prstGeom prst="roundRect">
            <a:avLst>
              <a:gd name="adj" fmla="val 4902"/>
            </a:avLst>
          </a:prstGeom>
          <a:solidFill>
            <a:srgbClr val="EAF7F0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962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with reduce()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364992"/>
            <a:ext cx="252374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sum of array numbers.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[10, 20, 30, 40]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forEach &amp; reduce()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889504"/>
            <a:ext cx="2743200" cy="1865376"/>
          </a:xfrm>
          <a:prstGeom prst="roundRect">
            <a:avLst>
              <a:gd name="adj" fmla="val 4902"/>
            </a:avLst>
          </a:prstGeom>
          <a:solidFill>
            <a:srgbClr val="EAF7F0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2962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58768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 Destructuring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364992"/>
            <a:ext cx="252374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user={name,age,city}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Destructure all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Rename city→location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in template literal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889504"/>
            <a:ext cx="2743200" cy="1865376"/>
          </a:xfrm>
          <a:prstGeom prst="roundRect">
            <a:avLst>
              <a:gd name="adj" fmla="val 4902"/>
            </a:avLst>
          </a:prstGeom>
          <a:solidFill>
            <a:srgbClr val="EAF7F0"/>
          </a:solidFill>
          <a:ln w="19050">
            <a:solidFill>
              <a:srgbClr val="27AE60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44768" y="296265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93408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&amp; Filter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44768" y="3364992"/>
            <a:ext cx="2523744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[1,5,15]+[8,12,20]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spread.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keep only &gt;10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[15, 12, 20]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50976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6112" y="95097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950976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(default) &gt; let &gt; never var. Block scope = predictable code.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48840" y="1554480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types: Declaration, Expression, Arrow, Anonymous, Callback, Constructor.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57984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215798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Loops: 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48840" y="2157984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(count), while (condition), forEach/for..of (arrays), for..in (objects).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761488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76148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ES6+ Features: 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48840" y="2761488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fns, Template literals, Destructuring, Spread/Rest, Default params.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36499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336499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Methods: 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48840" y="3364992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push/pop, shift/unshift, slice, splice, map, filter, reduce, sort, find.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8412480" cy="548640"/>
          </a:xfrm>
          <a:prstGeom prst="roundRect">
            <a:avLst>
              <a:gd name="adj" fmla="val 11667"/>
            </a:avLst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68496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112" y="396849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48840" y="3968496"/>
            <a:ext cx="6492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exports (many/file) vs Default export (one/file). import/export.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0" y="4736592"/>
            <a:ext cx="21945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5697</Words>
  <Application>Microsoft Office PowerPoint</Application>
  <PresentationFormat>On-screen Show (16:9)</PresentationFormat>
  <Paragraphs>823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Complete Training — Class 3</dc:title>
  <dc:subject>PptxGenJS Presentation</dc:subject>
  <dc:creator>PptxGenJS</dc:creator>
  <cp:lastModifiedBy>Rashmi Kumari</cp:lastModifiedBy>
  <cp:revision>2</cp:revision>
  <dcterms:created xsi:type="dcterms:W3CDTF">2026-06-10T18:13:54Z</dcterms:created>
  <dcterms:modified xsi:type="dcterms:W3CDTF">2026-06-11T08:43:25Z</dcterms:modified>
</cp:coreProperties>
</file>