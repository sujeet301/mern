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4" r:id="rId28"/>
    <p:sldId id="285" r:id="rId29"/>
    <p:sldId id="281" r:id="rId30"/>
    <p:sldId id="282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54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Complete Training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From Basics to Responsive Design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17520"/>
            <a:ext cx="14630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3017520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3017520"/>
            <a:ext cx="14630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017520"/>
            <a:ext cx="146304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14630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3474720"/>
            <a:ext cx="146304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474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CSS Basics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Properties, Box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Flexbox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layout, alignment, spacing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51560"/>
            <a:ext cx="26517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CSS Grid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layout, rows &amp; columns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0"/>
            <a:ext cx="2651760" cy="3200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Transitions &amp; Animations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effects, keyframes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274320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743200"/>
            <a:ext cx="265176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3108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mobile-first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274320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743200"/>
            <a:ext cx="265176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Problem Statements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exercises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CSS Basics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• Properties • Box Model • Colors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adds style and design to your HTML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is on the page. The structure/skeleton.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5156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051560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24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399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things LOOK. Colors, fonts, layout, spacing.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05156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051560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124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1399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things DO. Interactions, animations.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Add CSS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65176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2608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Inline CSS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red;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20px;"&gt;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 World!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2834640"/>
            <a:ext cx="265176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92608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Internal CSS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blue;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18px;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834640"/>
            <a:ext cx="283464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2926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External CSS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href="style.css"&gt;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style.css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green; 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404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Always use External CSS — it keeps HTML clean and CSS reusable across multiple pages.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tell CSS which HTML element to style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8840" y="139903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&lt;p&gt; tags on the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406908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.highlight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7355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.highlight {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318211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with class='highlight'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dot (.) before class 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51560"/>
            <a:ext cx="40690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#main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39903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9047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 {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139903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unique element with id='main'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hash (#) before id 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34640"/>
            <a:ext cx="4069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 *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8211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27355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margin: 0;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318211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elements on the page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reset default browser styles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Typography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text appearance — size, color, font, alignment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font-size: 24px;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80360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text size. Bigger number = bigger text. Units: px, em, rem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51560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#FF5733;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69480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color. Use names, hex (#FF5733), or RGB (rgb(255,87,51))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68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660904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2648" y="2752344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font-family: Arial, sans-serif;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80360" y="266090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tries first font (Arial), falls back to sans-serif if unavailable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13432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313432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68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text-align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660904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752344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text-align: center;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69480" y="266090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alignment: left | right | center | justify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75304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922776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014216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line-height: 1.5; 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0360" y="392277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lines. 1.5 = 1.5× the font-size. Makes text readable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575304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575304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font-weight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3922776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4014216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font-weight: bold; }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69480" y="392277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thickness: normal | bold | 100–900 (lighter → bolder)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Background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element backgrounds with color or images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65760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34381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yellow;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background-image: url('image.jpg');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cover;      /* fill the box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background-repeat: no-repeat;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background-position: center;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51560"/>
            <a:ext cx="4480560" cy="22860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143000"/>
            <a:ext cx="4297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143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/ #fff / rgb()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54533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5453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154533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url('image.jpg')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947672"/>
            <a:ext cx="4297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947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9476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| contain | 100px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235000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350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background-repeat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3500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no-repeat | repeat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752344"/>
            <a:ext cx="4297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75234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background-position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27523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| top left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background-size: cover  →  makes image always fill the container (may crop slightly). Best for hero sections!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20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background-size: cover  →  makes image always fill the container (may crop slightly). Best for hero sections!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Background Shorthand: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34840"/>
            <a:ext cx="8193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background: url('bg.jpg') center/cover no-repeat; 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Box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element is a box — understanding this is KEY to layout!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FDE8C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291840" cy="3200400"/>
          </a:xfrm>
          <a:prstGeom prst="rect">
            <a:avLst/>
          </a:prstGeom>
          <a:solidFill>
            <a:srgbClr val="374151"/>
          </a:solidFill>
          <a:ln w="254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44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1600200"/>
            <a:ext cx="2743200" cy="2651760"/>
          </a:xfrm>
          <a:prstGeom prst="rect">
            <a:avLst/>
          </a:prstGeom>
          <a:solidFill>
            <a:srgbClr val="BFDB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20240"/>
            <a:ext cx="2103120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5156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064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353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the border. Pushes element away from others. Transparent.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9659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965960"/>
            <a:ext cx="64008" cy="7772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0208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2677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around the element. Has color, thickness and style.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8803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88036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352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1821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the border. Between content and border.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37947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794760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496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text, image, or child elements inside the box.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4773168"/>
            <a:ext cx="416052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864608"/>
            <a:ext cx="3941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200px;  padding: 10px;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5px solid black;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Combinators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elements based on their relationship to other elements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 (A 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p { color: blue;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50592" y="13990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&lt;p&gt; inside &lt;div&gt;, no matter how deep they are.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6908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(A &gt; 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3990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904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&gt; p { color: red;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48272" y="13990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DIRECT children of &lt;div&gt;. Nested &lt;p&gt; inside &lt;span&gt; is NOT selected.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80360"/>
            <a:ext cx="40690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Sibling (A + 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192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+ p { color: green;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50592" y="32278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FIRST &lt;p&gt; that comes immediately AFTER &lt;h1&gt;. Only the very next sibling.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80360"/>
            <a:ext cx="4069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80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Sibling (A ~ B)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2278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3192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~ p { color: purple;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48272" y="32278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&lt;p&gt; elements that come AFTER &lt;h2&gt; with the same parent.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Pseudo-Classes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elements based on their STATE — :hover, :focus, :active, :nth-child...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 background: blue;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62072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mouse moves OVER the element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5156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:active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button:active { background: red;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51192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while element is being CLICKED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63347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72491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input:focus { border: 2px solid green;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62072" y="263347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input/form element is SELECTED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:visited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63347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72491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a:visited { color: purple;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51192" y="263347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links that have already been VISITED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20440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753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:first-child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86791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95935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li:first-child { color: red; 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62072" y="386791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FIRST child of its parent element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52044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520440"/>
            <a:ext cx="64008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753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:last-child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386791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395935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li:last-child { color: red; }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51192" y="386791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LAST child of its parent element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CSS Flexbox 📦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layout system for rows &amp; columns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Flexbox?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1D layout system — arranges items in a row OR column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84124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Container (Parent  →  display: flex)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1031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1031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21031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95728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0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Flexbox on the parent container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(default, left→right) | column (top→bottom)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05072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59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25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along MAIN axis (horizontal in row)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395728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395728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450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along CROSS axis (vertical in row)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200400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200400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520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flex items (cleaner than margin)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005072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005072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059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325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= items move to next line when no space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justify-content, align-items, flex-direction, gap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 (Main Axis)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5087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9968" y="1325880"/>
            <a:ext cx="15087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94176" y="1325880"/>
            <a:ext cx="15087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58384" y="1325880"/>
            <a:ext cx="1508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22592" y="1325880"/>
            <a:ext cx="150876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space-around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 (Cross Axis)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5087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29968" y="2103120"/>
            <a:ext cx="15087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94176" y="2103120"/>
            <a:ext cx="15087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58384" y="2103120"/>
            <a:ext cx="1508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22592" y="2103120"/>
            <a:ext cx="150876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542032"/>
            <a:ext cx="530352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633472"/>
            <a:ext cx="50840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row;         /* row | column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 /* main axis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         /* cross axis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                   /* spacing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             /* wrapping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542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2880360"/>
            <a:ext cx="2880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880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Center everything: justify-content: center + align-items: center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3200400"/>
            <a:ext cx="288036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2004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Equal spacing: justify-content: space-between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3520440"/>
            <a:ext cx="2880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Vertical stack: flex-direction: column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52160" y="3840480"/>
            <a:ext cx="288036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wrap: flex-wrap: wrap + width on items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CSS Grid 🗂️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layout — rows AND columns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layout system — control both rows AND columns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27432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Container  (display: grid)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64792" y="1371600"/>
            <a:ext cx="111556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371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26664" y="1371600"/>
            <a:ext cx="111556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371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111556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64792" y="2514600"/>
            <a:ext cx="111556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2514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26664" y="2514600"/>
            <a:ext cx="1115568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2514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6908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97280"/>
            <a:ext cx="38496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1fr 1fr 1fr; /* 3 equal cols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grid-template-rows: 200px 200px;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or shorthand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grid-auto-rows: minmax(100px, auto);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vs Grid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41148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Flexbox → 1D (row OR column). Great for navbars, card rows, centering single items.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224528"/>
            <a:ext cx="406908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2245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Grid → 2D (rows AND columns). Great for full page layouts, dashboards, image galleries.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grid-template-columns, rows, gap, span, and placement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4475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repeat(3, 1fr)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78608" y="1353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equal-width columns. 1fr = 1 fraction of available space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05840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60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53312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44475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200px auto 100px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76288" y="1353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row's height. auto = size to content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04288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/ column-gap / row-gap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51760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7432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20px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78608" y="2651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between grid cells. Replaces grid-gap (old)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304288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304288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51760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7432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grid-column: 1 / 3;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6288" y="2651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spans from column line 1 to 3 (spans 2 cols)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02736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602736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grid-row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041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grid-row: span 2;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78608" y="39502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spans across 2 rows. Great for feature cards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602736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602736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grid-template-areas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950208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4041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 header"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"sidebar main"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76288" y="39502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layout zones — very readable and visual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Transitions &amp; Animations 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website feel alive with smooth effects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animated change between two states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property  duration  timing-function  delay;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11480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blue;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background-color 0.3s ease;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darkblue;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06908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572768"/>
            <a:ext cx="3849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Transition multiple properties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width 0.5s ease,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opacity 0.3s ease-in;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200px;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0.5;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Functions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→ Fast → Slow (default)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657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speed throughout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977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slow, ends fast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fast, ends slow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17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ease-in-out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6596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start, slow 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29992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Transition Use Cases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0690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337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Button hover color change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Card lift with box-shadow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0690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776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Menu slide-in (height/max-height)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297680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976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zoom on hover (transform: scale)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617720"/>
            <a:ext cx="40690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617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Fade in/out (opacity)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(@keyframes)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multi-step animations with full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= @keyframes rule + animation property on element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7548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453542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1: Define the keyframes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fadeIn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{ opacity: 0; transform: translateY(20px);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  { opacity: 1;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2: Apply to element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fadeIn 0.6s ease forwards;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57800" y="1481328"/>
            <a:ext cx="347472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528" y="1572768"/>
            <a:ext cx="3255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Multi-step animation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bounce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0%   {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50%  { transform: translateY(-20px);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100% {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.ball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bounce 1s ease infinite;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shorthand: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49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name  duration  timing-function  delay  iteration-count  direction  fill-mode;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297680"/>
            <a:ext cx="8193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Examples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slideIn 0.5s ease 0s 1 normal forwards;  /* play once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spin    2s linear infinite;              /* loop forever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pulse   1s ease-in-out infinite alternate; /* back and forth */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rotate, scale, and skew elements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translate(50px, 20px);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element X and Y pixels from its 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39903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904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rotate(45deg);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element clockwise by degrees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scale()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7355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scale(1.5);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element — 1.5 = 150% size, 0.5 = 50%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3464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18211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27355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skew(20deg, 10deg);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657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Tilts element along X and Y axes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445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Combine transforms: transform: rotate(45deg) scale(1.2) translateX(20px);  — chain multiple in one line!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Responsive Design 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website look great on all screen sizes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exactly WHERE elements are placed on the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11887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097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Element appears in normal document flow. top/left/right/bottom have NO effect.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10512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11680"/>
            <a:ext cx="11887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019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its OWN original position. Still takes up space in the flow. Used to anchor absolute children.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15184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16352"/>
            <a:ext cx="11887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70662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flow. Positioned relative to nearest positioned parent. Great for overlays, tooltips.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19856"/>
            <a:ext cx="64008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21024"/>
            <a:ext cx="118872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210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5112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fixed to the SCREEN while scrolling. Great for sticky navbars, chat buttons, back-to-top.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24528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25696"/>
            <a:ext cx="11887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256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sticky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43159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 first, then STICKS when it reaches the set edge (e.g. top: 0). Used for table headers.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CSS rules based on screen size or device 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(condition) {  /* CSS rules that apply only when condition is true */  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029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480974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Mobile: max-width 600px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{ background: lightblue;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flex-direction: column;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Tablet: 601px to 1024px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601px) and (max-width: 1024px)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grid-template-columns: 1fr 1fr;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Desktop: 1025px and above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1025px)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grid-template-columns: repeat(4, 1fr);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14813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Breakpoints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874520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874520"/>
            <a:ext cx="64008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874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18745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600px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404872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404872"/>
            <a:ext cx="64008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4048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Tablet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24048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601–1024px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935224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935224"/>
            <a:ext cx="6400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9352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Desktop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9352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1025px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3465576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3465576"/>
            <a:ext cx="64008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34655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Large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46557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1440px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4041648"/>
            <a:ext cx="315468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041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Mobile-First Approach: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styles for mobile first, then add media queries for larger screens using min-width.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is recommended!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36008"/>
            <a:ext cx="5029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727448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 first: default = mobile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flex-direction: column;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Then enhance for larger screens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 .container { flex-direction: row; } }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Problem Statements 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you learned — hands-on coding exercises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these step by step and apply every CSS topic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38912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PS-1: Blog Section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blog post cards. Each with h3 + p. Different background-color per post. Use padding, margin, line-height, universal selector reset, and id selector for the first heading.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38912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04288"/>
            <a:ext cx="43891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PS-2: Interactive 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page with buttons, links, and input fields. Hover color on button. Highlight input on focus. Style visited/unvisited links. Style first and last list items using pseudo-classes.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438912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02736"/>
            <a:ext cx="43891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027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PS-3: Flexbox Layouts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3 boxes in a row with equal spacing.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1 box centered on page (horizontal + vertical).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6 boxes in a row on desktop, wrapping on small screens.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1005840"/>
            <a:ext cx="374904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005840"/>
            <a:ext cx="37490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005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PS-4: Responsive Color 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3350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box that changes color: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on desktop (≥1025px)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 on tablet (601–1024px)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 on mobile (≤600px)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3 media query breakpoints.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2304288"/>
            <a:ext cx="374904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304288"/>
            <a:ext cx="37490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042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PS-5: Position Challenge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63347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parent box (position: relative). Place a child box at the bottom-right corner using position: absolute. Add a fixed button at the bottom-right of the page (like a chat icon).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EF0E87-2990-398C-0C90-69DA2229CCB5}"/>
              </a:ext>
            </a:extLst>
          </p:cNvPr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BE49436-9AF8-485C-BB49-58E28ABF5777}"/>
              </a:ext>
            </a:extLst>
          </p:cNvPr>
          <p:cNvSpPr/>
          <p:nvPr/>
        </p:nvSpPr>
        <p:spPr>
          <a:xfrm>
            <a:off x="483184" y="731520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US" sz="1100" b="1" dirty="0">
                <a:solidFill>
                  <a:schemeClr val="bg1"/>
                </a:solidFill>
              </a:rPr>
              <a:t>Create a modern pricing section with 3 cards using only Flexbox.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E125A-34CE-6DC7-1A15-701A62484E5A}"/>
              </a:ext>
            </a:extLst>
          </p:cNvPr>
          <p:cNvSpPr txBox="1"/>
          <p:nvPr/>
        </p:nvSpPr>
        <p:spPr>
          <a:xfrm>
            <a:off x="483184" y="1005071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/>
              <a:t>Requirements: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Cards should appear in one row on desktop.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Equal spacing between cards.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Highlight the middle card.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Button at bottom of each card.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Use Flexbox for layout.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7186714-96C7-B7EF-EF35-912615142DB6}"/>
              </a:ext>
            </a:extLst>
          </p:cNvPr>
          <p:cNvSpPr/>
          <p:nvPr/>
        </p:nvSpPr>
        <p:spPr>
          <a:xfrm>
            <a:off x="483184" y="2001677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</a:rPr>
              <a:t>Expected Design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D119DD-367A-2D32-DF34-2593ED1B2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31" y="2368031"/>
            <a:ext cx="7493088" cy="24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92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6BAEC-87BA-7647-1A11-9AA323EB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054682-9AB3-7C4D-C189-A3259FBE0981}"/>
              </a:ext>
            </a:extLst>
          </p:cNvPr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AEFDB43-BEDF-CB6C-BE44-792FE2518FEB}"/>
              </a:ext>
            </a:extLst>
          </p:cNvPr>
          <p:cNvSpPr/>
          <p:nvPr/>
        </p:nvSpPr>
        <p:spPr>
          <a:xfrm>
            <a:off x="483184" y="731520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Create a modern magazine/blog layout using CSS Grid.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5F9EA-9EFE-3B3B-E318-5DFD6ECACDB3}"/>
              </a:ext>
            </a:extLst>
          </p:cNvPr>
          <p:cNvSpPr txBox="1"/>
          <p:nvPr/>
        </p:nvSpPr>
        <p:spPr>
          <a:xfrm>
            <a:off x="483184" y="1005071"/>
            <a:ext cx="4572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Requirements:</a:t>
            </a:r>
          </a:p>
          <a:p>
            <a:r>
              <a:rPr lang="en-US" sz="1000" dirty="0"/>
              <a:t>One large featured article. </a:t>
            </a:r>
          </a:p>
          <a:p>
            <a:r>
              <a:rPr lang="en-US" sz="1000" dirty="0"/>
              <a:t>Four smaller cards. </a:t>
            </a:r>
          </a:p>
          <a:p>
            <a:r>
              <a:rPr lang="en-US" sz="1000" dirty="0"/>
              <a:t>Gap between all cards. </a:t>
            </a:r>
          </a:p>
          <a:p>
            <a:r>
              <a:rPr lang="en-US" sz="1000" dirty="0"/>
              <a:t>Rounded corners. </a:t>
            </a:r>
          </a:p>
          <a:p>
            <a:r>
              <a:rPr lang="en-US" sz="1000" dirty="0"/>
              <a:t>Hover effect. </a:t>
            </a:r>
          </a:p>
          <a:p>
            <a:r>
              <a:rPr lang="en-US" sz="1000" dirty="0"/>
              <a:t>Container width should be limited (not full screen). </a:t>
            </a:r>
          </a:p>
          <a:p>
            <a:r>
              <a:rPr lang="en-US" sz="1000" dirty="0"/>
              <a:t>Use </a:t>
            </a:r>
            <a:r>
              <a:rPr lang="en-US" dirty="0"/>
              <a:t>grid-column</a:t>
            </a:r>
            <a:r>
              <a:rPr lang="en-US" sz="1000" dirty="0"/>
              <a:t> and </a:t>
            </a:r>
            <a:r>
              <a:rPr lang="en-US" dirty="0"/>
              <a:t>grid-row</a:t>
            </a:r>
            <a:r>
              <a:rPr lang="en-US" sz="1000" dirty="0"/>
              <a:t>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C2EEE7A-90AE-6962-534F-F28633B00191}"/>
              </a:ext>
            </a:extLst>
          </p:cNvPr>
          <p:cNvSpPr/>
          <p:nvPr/>
        </p:nvSpPr>
        <p:spPr>
          <a:xfrm>
            <a:off x="483184" y="2451621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</a:rPr>
              <a:t>Expected Design</a:t>
            </a:r>
          </a:p>
        </p:txBody>
      </p:sp>
      <p:pic>
        <p:nvPicPr>
          <p:cNvPr id="1026" name="Picture 2" descr="112 CSS Galleries">
            <a:extLst>
              <a:ext uri="{FF2B5EF4-FFF2-40B4-BE49-F238E27FC236}">
                <a16:creationId xmlns:a16="http://schemas.microsoft.com/office/drawing/2014/main" id="{DE8DCE8B-0174-35A2-BE36-29806259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28" y="2847982"/>
            <a:ext cx="4080921" cy="229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675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7671-09C8-C285-5B57-FE439CCA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277628-EA72-E149-DAA2-0554B28A181F}"/>
              </a:ext>
            </a:extLst>
          </p:cNvPr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3B3A083-5915-ED23-BB93-599D3F49C987}"/>
              </a:ext>
            </a:extLst>
          </p:cNvPr>
          <p:cNvSpPr/>
          <p:nvPr/>
        </p:nvSpPr>
        <p:spPr>
          <a:xfrm>
            <a:off x="483184" y="731520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Create a responsive food delivery landing page.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2BAF7-4AE6-63DD-83D1-DDAF66D5BE50}"/>
              </a:ext>
            </a:extLst>
          </p:cNvPr>
          <p:cNvSpPr txBox="1"/>
          <p:nvPr/>
        </p:nvSpPr>
        <p:spPr>
          <a:xfrm>
            <a:off x="483184" y="1005071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Requirements:</a:t>
            </a:r>
          </a:p>
          <a:p>
            <a:r>
              <a:rPr lang="en-US" sz="1000" dirty="0"/>
              <a:t>Navbar. </a:t>
            </a:r>
          </a:p>
          <a:p>
            <a:r>
              <a:rPr lang="en-US" sz="1000" dirty="0"/>
              <a:t>Hero Section. </a:t>
            </a:r>
          </a:p>
          <a:p>
            <a:r>
              <a:rPr lang="en-US" sz="1000" dirty="0"/>
              <a:t>Hero Image. </a:t>
            </a:r>
          </a:p>
          <a:p>
            <a:r>
              <a:rPr lang="en-US" sz="1000" dirty="0"/>
              <a:t>Floating discount badge using .</a:t>
            </a:r>
          </a:p>
          <a:p>
            <a:r>
              <a:rPr lang="en-US" sz="1000" dirty="0" err="1"/>
              <a:t>Position:absolute</a:t>
            </a:r>
            <a:r>
              <a:rPr lang="en-US" sz="1000" dirty="0"/>
              <a:t> </a:t>
            </a:r>
          </a:p>
          <a:p>
            <a:r>
              <a:rPr lang="en-US" sz="1000" dirty="0"/>
              <a:t>Desktop → image and text side by side. </a:t>
            </a:r>
          </a:p>
          <a:p>
            <a:r>
              <a:rPr lang="en-US" sz="1000" dirty="0"/>
              <a:t>Mobile → image below text.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02B3ACA-46FE-9F39-B21D-29EF9A3EFBDD}"/>
              </a:ext>
            </a:extLst>
          </p:cNvPr>
          <p:cNvSpPr/>
          <p:nvPr/>
        </p:nvSpPr>
        <p:spPr>
          <a:xfrm>
            <a:off x="483184" y="2451621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</a:rPr>
              <a:t>Expected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E8F0F-85C0-89C9-4125-36E30484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84" y="2867340"/>
            <a:ext cx="3869889" cy="2035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E45258-5478-1353-10EE-E559C099B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470" y="904550"/>
            <a:ext cx="2572161" cy="36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74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Specificity &amp; Cascade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CSS rule wins when there are conflicts?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Hierarchy  (Higher = Wins)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8229600" cy="50292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everything (avoid using)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39112"/>
            <a:ext cx="6400800" cy="5029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0391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style='...' on the element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60904"/>
            <a:ext cx="4572000" cy="50292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Selector #id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6609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selector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82696"/>
            <a:ext cx="320040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82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.class / :pseudo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2826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specificity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04488"/>
            <a:ext cx="1645920" cy="50292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p, h1, div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9044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specificity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709160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blue; }          /* specificity: 0,0,1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 { color: red; }       /* specificity: 0,1,0 — wins over element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 { color: green; }     /* specificity: 1,0,0 — wins over class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pink"&gt;   /* specificity: inline — wins over #id */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0" y="868680"/>
            <a:ext cx="219456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Properties, Box Model, Combinators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78992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61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Backgrounds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font-size, color, font-family, background-image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78992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261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display:flex, justify-content, align-items, gap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grid-template-columns, rows, gap, span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926080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461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&amp; Animations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@keyframes, transition, transform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350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mobile-first, breakpoints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JavaScript! 🚀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2407</TotalTime>
  <Words>2924</Words>
  <Application>Microsoft Office PowerPoint</Application>
  <PresentationFormat>On-screen Show (16:9)</PresentationFormat>
  <Paragraphs>510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Complete Training</dc:title>
  <dc:subject>PptxGenJS Presentation</dc:subject>
  <dc:creator>PptxGenJS</dc:creator>
  <cp:lastModifiedBy>Rashmi Kumari</cp:lastModifiedBy>
  <cp:revision>3</cp:revision>
  <dcterms:created xsi:type="dcterms:W3CDTF">2026-06-08T18:19:39Z</dcterms:created>
  <dcterms:modified xsi:type="dcterms:W3CDTF">2026-06-10T10:38:20Z</dcterms:modified>
</cp:coreProperties>
</file>