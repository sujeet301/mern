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Express.js, Routing, Middleware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REST APIs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real, structured CRUD APIs on top of Node.js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10263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114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Series  •  Day 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routes to a complete, production-shaped REST API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121B2E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993392"/>
            <a:ext cx="219456" cy="21945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993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fundamentals &amp; app setup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121B2E"/>
          </a:solidFill>
          <a:ln/>
        </p:spPr>
      </p:sp>
      <p:sp>
        <p:nvSpPr>
          <p:cNvPr id="10" name="Shape 8"/>
          <p:cNvSpPr/>
          <p:nvPr/>
        </p:nvSpPr>
        <p:spPr>
          <a:xfrm>
            <a:off x="676656" y="2560320"/>
            <a:ext cx="219456" cy="21945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5603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24414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design principles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008376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121B2E"/>
          </a:solidFill>
          <a:ln/>
        </p:spPr>
      </p:sp>
      <p:sp>
        <p:nvSpPr>
          <p:cNvPr id="14" name="Shape 12"/>
          <p:cNvSpPr/>
          <p:nvPr/>
        </p:nvSpPr>
        <p:spPr>
          <a:xfrm>
            <a:off x="676656" y="3127248"/>
            <a:ext cx="219456" cy="21945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1272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30083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 mapped to HTTP methods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575304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121B2E"/>
          </a:solidFill>
          <a:ln/>
        </p:spPr>
      </p:sp>
      <p:sp>
        <p:nvSpPr>
          <p:cNvPr id="18" name="Shape 16"/>
          <p:cNvSpPr/>
          <p:nvPr/>
        </p:nvSpPr>
        <p:spPr>
          <a:xfrm>
            <a:off x="676656" y="3694176"/>
            <a:ext cx="219456" cy="21945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36941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" y="357530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— params, query strings, req.body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142232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121B2E"/>
          </a:solidFill>
          <a:ln/>
        </p:spPr>
      </p:sp>
      <p:sp>
        <p:nvSpPr>
          <p:cNvPr id="22" name="Shape 20"/>
          <p:cNvSpPr/>
          <p:nvPr/>
        </p:nvSpPr>
        <p:spPr>
          <a:xfrm>
            <a:off x="676656" y="4261104"/>
            <a:ext cx="219456" cy="21945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" y="42611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05840" y="414223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 codes done right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663440" y="1874520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121B2E"/>
          </a:solidFill>
          <a:ln/>
        </p:spPr>
      </p:sp>
      <p:sp>
        <p:nvSpPr>
          <p:cNvPr id="26" name="Shape 24"/>
          <p:cNvSpPr/>
          <p:nvPr/>
        </p:nvSpPr>
        <p:spPr>
          <a:xfrm>
            <a:off x="4791456" y="1993392"/>
            <a:ext cx="219456" cy="21945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4791456" y="1993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</a:rPr>
              <a:t>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0" y="18745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— concept &amp; request/response cycle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663440" y="2441448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121B2E"/>
          </a:solidFill>
          <a:ln/>
        </p:spPr>
      </p:sp>
      <p:sp>
        <p:nvSpPr>
          <p:cNvPr id="30" name="Shape 28"/>
          <p:cNvSpPr/>
          <p:nvPr/>
        </p:nvSpPr>
        <p:spPr>
          <a:xfrm>
            <a:off x="4791456" y="2560320"/>
            <a:ext cx="219456" cy="21945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/>
          <p:nvPr/>
        </p:nvSpPr>
        <p:spPr>
          <a:xfrm>
            <a:off x="4791456" y="25603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</a:rPr>
              <a:t>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20640" y="24414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Built-in, third-party &amp; custom middleware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663440" y="3008376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121B2E"/>
          </a:solidFill>
          <a:ln/>
        </p:spPr>
      </p:sp>
      <p:sp>
        <p:nvSpPr>
          <p:cNvPr id="34" name="Shape 32"/>
          <p:cNvSpPr/>
          <p:nvPr/>
        </p:nvSpPr>
        <p:spPr>
          <a:xfrm>
            <a:off x="4791456" y="3127248"/>
            <a:ext cx="219456" cy="21945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5" name="Text 33"/>
          <p:cNvSpPr/>
          <p:nvPr/>
        </p:nvSpPr>
        <p:spPr>
          <a:xfrm>
            <a:off x="4791456" y="31272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</a:rPr>
              <a:t>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20640" y="30083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error handling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663440" y="3575304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121B2E"/>
          </a:solidFill>
          <a:ln/>
        </p:spPr>
      </p:sp>
      <p:sp>
        <p:nvSpPr>
          <p:cNvPr id="38" name="Shape 36"/>
          <p:cNvSpPr/>
          <p:nvPr/>
        </p:nvSpPr>
        <p:spPr>
          <a:xfrm>
            <a:off x="4791456" y="3694176"/>
            <a:ext cx="219456" cy="21945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9" name="Text 37"/>
          <p:cNvSpPr/>
          <p:nvPr/>
        </p:nvSpPr>
        <p:spPr>
          <a:xfrm>
            <a:off x="4791456" y="36941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</a:rPr>
              <a:t>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20640" y="357530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routes with express.Router()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663440" y="4142232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121B2E"/>
          </a:solidFill>
          <a:ln/>
        </p:spPr>
      </p:sp>
      <p:sp>
        <p:nvSpPr>
          <p:cNvPr id="42" name="Shape 40"/>
          <p:cNvSpPr/>
          <p:nvPr/>
        </p:nvSpPr>
        <p:spPr>
          <a:xfrm>
            <a:off x="4791456" y="4261104"/>
            <a:ext cx="219456" cy="21945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3" name="Text 41"/>
          <p:cNvSpPr/>
          <p:nvPr/>
        </p:nvSpPr>
        <p:spPr>
          <a:xfrm>
            <a:off x="4791456" y="42611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</a:rPr>
              <a:t>10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20640" y="414223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hands-on problem statements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0" y="384048"/>
            <a:ext cx="384048" cy="384048"/>
          </a:xfrm>
          <a:prstGeom prst="ellipse">
            <a:avLst/>
          </a:prstGeom>
          <a:solidFill>
            <a:srgbClr val="121B2E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Express.js — and Why Use It?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minimal, unopinionated web framework built on top of Node's core http module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routing, request parsing, and response building with a clean, chainable API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widely used Node.js backend framework — the ‘E’ in MERN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you focus on application logic (what your API does) instead of low-level socket and header plumbing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8046720" cy="868680"/>
          </a:xfrm>
          <a:prstGeom prst="roundRect">
            <a:avLst>
              <a:gd name="adj" fmla="val 7368"/>
            </a:avLst>
          </a:prstGeom>
          <a:solidFill>
            <a:srgbClr val="10263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2519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4489704"/>
            <a:ext cx="7589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= Node + Convenience. Recall the raw http server: manually parsing URLs, methods, and bodies. Express replaces that with clean APIs like app.get() and app.post().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0" y="384048"/>
            <a:ext cx="384048" cy="384048"/>
          </a:xfrm>
          <a:prstGeom prst="ellipse">
            <a:avLst/>
          </a:prstGeom>
          <a:solidFill>
            <a:srgbClr val="121B2E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Your First Express App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2606040"/>
          </a:xfrm>
          <a:prstGeom prst="roundRect">
            <a:avLst>
              <a:gd name="adj" fmla="val 2807"/>
            </a:avLst>
          </a:prstGeom>
          <a:solidFill>
            <a:srgbClr val="0A0F1A"/>
          </a:solidFill>
          <a:ln w="12700">
            <a:solidFill>
              <a:srgbClr val="1E2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73352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673352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1673352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92808"/>
            <a:ext cx="7498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terminal: npm install express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express = require('express');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app = express();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app.get('/', (req, res) =&gt;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res.send('Hello from Express!');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app.listen(3000, () =&gt; console.log('Server running on 3000'));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8046720" cy="868680"/>
          </a:xfrm>
          <a:prstGeom prst="roundRect">
            <a:avLst>
              <a:gd name="adj" fmla="val 7368"/>
            </a:avLst>
          </a:prstGeom>
          <a:solidFill>
            <a:srgbClr val="10263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2519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489704"/>
            <a:ext cx="7589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app.listen() starts Node's http server for you. Every app.get/post/put/delete() call registers a route in Express's internal routing table.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0" y="384048"/>
            <a:ext cx="384048" cy="384048"/>
          </a:xfrm>
          <a:prstGeom prst="ellipse">
            <a:avLst/>
          </a:prstGeom>
          <a:solidFill>
            <a:srgbClr val="121B2E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Design Principles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(REpresentational State Transfer) is an architectural style — a set of conventions, not a library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are nouns identified by URLs: /users, /users/42, /users/42/orders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— each request carries everything needed; the server stores no client session between calls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standard HTTP methods to express intent, and standard status codes to express outcome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8046720" cy="868680"/>
          </a:xfrm>
          <a:prstGeom prst="roundRect">
            <a:avLst>
              <a:gd name="adj" fmla="val 7368"/>
            </a:avLst>
          </a:prstGeom>
          <a:solidFill>
            <a:srgbClr val="2B221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2519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4489704"/>
            <a:ext cx="7589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plural nouns for collections (/products not /product), and never verbs in the URL — /createUser is not RESTful; POST /users is.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0" y="384048"/>
            <a:ext cx="384048" cy="384048"/>
          </a:xfrm>
          <a:prstGeom prst="ellipse">
            <a:avLst/>
          </a:prstGeom>
          <a:solidFill>
            <a:srgbClr val="121B2E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 Mapped to HTTP Methods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046720" cy="2926080"/>
        </p:xfrm>
        <a:graphic>
          <a:graphicData uri="http://schemas.openxmlformats.org/drawingml/2006/table">
            <a:tbl>
              <a:tblPr/>
              <a:tblGrid>
                <a:gridCol w="1828800"/>
                <a:gridCol w="1554480"/>
                <a:gridCol w="2377440"/>
                <a:gridCol w="2286000"/>
              </a:tblGrid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URL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/users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Created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(all)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/users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(one)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/users/42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 / 404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(full)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/users/42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(partial)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/users/42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/users/42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 No Content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0" y="384048"/>
            <a:ext cx="384048" cy="384048"/>
          </a:xfrm>
          <a:prstGeom prst="ellipse">
            <a:avLst/>
          </a:prstGeom>
          <a:solidFill>
            <a:srgbClr val="121B2E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— Mapping URLs to Code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 = an HTTP method + a URL path + a handler function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app.get(path, handler) — fetch data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app.post(path, handler) — create data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app.put(path, handler) / app.patch(path, handler) — update data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app.delete(path, handler) — remove data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8046720" cy="868680"/>
          </a:xfrm>
          <a:prstGeom prst="roundRect">
            <a:avLst>
              <a:gd name="adj" fmla="val 7368"/>
            </a:avLst>
          </a:prstGeom>
          <a:solidFill>
            <a:srgbClr val="10263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2519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4489704"/>
            <a:ext cx="7589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methods map directly to CRUD — the backbone of almost every API you'll build, from a to-do list to a payments system.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0" y="384048"/>
            <a:ext cx="384048" cy="384048"/>
          </a:xfrm>
          <a:prstGeom prst="ellipse">
            <a:avLst/>
          </a:prstGeom>
          <a:solidFill>
            <a:srgbClr val="121B2E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Parameters &amp; Query Strings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2743200"/>
          </a:xfrm>
          <a:prstGeom prst="roundRect">
            <a:avLst>
              <a:gd name="adj" fmla="val 2667"/>
            </a:avLst>
          </a:prstGeom>
          <a:solidFill>
            <a:srgbClr val="0A0F1A"/>
          </a:solidFill>
          <a:ln w="12700">
            <a:solidFill>
              <a:srgbClr val="1E2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73352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673352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1673352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92808"/>
            <a:ext cx="74980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/users/42  -&gt;  req.params.id === '42'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app.get('/users/:id', (req, res) =&gt;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res.send(`User ID: ${req.params.id}`);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/search?term=node&amp;limit=10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app.get('/search', (req, res) =&gt;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term, limit } = req.query;   // both are strings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res.send(`Searching for ${term}, limit ${limit}`);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8046720" cy="868680"/>
          </a:xfrm>
          <a:prstGeom prst="roundRect">
            <a:avLst>
              <a:gd name="adj" fmla="val 7368"/>
            </a:avLst>
          </a:prstGeom>
          <a:solidFill>
            <a:srgbClr val="2B221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2519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489704"/>
            <a:ext cx="7589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route params (:id) to identify a specific resource. Use query strings for filtering, sorting, pagination, or search — they're optional and unordered.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0" y="384048"/>
            <a:ext cx="384048" cy="384048"/>
          </a:xfrm>
          <a:prstGeom prst="ellipse">
            <a:avLst/>
          </a:prstGeom>
          <a:solidFill>
            <a:srgbClr val="121B2E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JSON Data — req.body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2743200"/>
          </a:xfrm>
          <a:prstGeom prst="roundRect">
            <a:avLst>
              <a:gd name="adj" fmla="val 2667"/>
            </a:avLst>
          </a:prstGeom>
          <a:solidFill>
            <a:srgbClr val="0A0F1A"/>
          </a:solidFill>
          <a:ln w="12700">
            <a:solidFill>
              <a:srgbClr val="1E2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73352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673352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1673352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92808"/>
            <a:ext cx="74980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app.use(express.json());   // required to parse JSON bodies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app.post('/users', (req, res) =&gt;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name, email } = req.body;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(!name || !email)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res.status(400).json({ error: 'name and email required' });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res.status(201).json({ message: 'User created', name });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8046720" cy="868680"/>
          </a:xfrm>
          <a:prstGeom prst="roundRect">
            <a:avLst>
              <a:gd name="adj" fmla="val 7368"/>
            </a:avLst>
          </a:prstGeom>
          <a:solidFill>
            <a:srgbClr val="2B221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2519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489704"/>
            <a:ext cx="7589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app.use(express.json()) means req.body is undefined on POST/PUT — always register it before your routes.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0" y="384048"/>
            <a:ext cx="384048" cy="384048"/>
          </a:xfrm>
          <a:prstGeom prst="ellipse">
            <a:avLst/>
          </a:prstGeom>
          <a:solidFill>
            <a:srgbClr val="121B2E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CRUD Resource, End to End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8046720" cy="2834640"/>
          </a:xfrm>
          <a:prstGeom prst="roundRect">
            <a:avLst>
              <a:gd name="adj" fmla="val 2581"/>
            </a:avLst>
          </a:prstGeom>
          <a:solidFill>
            <a:srgbClr val="0A0F1A"/>
          </a:solidFill>
          <a:ln w="12700">
            <a:solidFill>
              <a:srgbClr val="1E2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27632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627632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1627632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47088"/>
            <a:ext cx="7498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books = [{ id: 1, title: 'Dune' }];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app.get('/books', (req, res) =&gt; res.json(books));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app.get('/books/:id', (req, res) =&gt;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book = books.find(b =&gt; b.id === +req.params.id);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(!book) return res.status(404).json({ error: 'Not found' });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res.json(book);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app.post('/books', (req, res) =&gt;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book = { id: Date.now(), ...req.body };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books.push(book);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res.status(201).json(book);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app.put('/books/:id', (req, res) =&gt; { /* find &amp; replace */ });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app.delete('/books/:id', (req, res) =&gt;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books = books.filter(b =&gt; b.id !== +req.params.id);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res.status(204).send();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0" y="384048"/>
            <a:ext cx="384048" cy="384048"/>
          </a:xfrm>
          <a:prstGeom prst="ellipse">
            <a:avLst/>
          </a:prstGeom>
          <a:solidFill>
            <a:srgbClr val="121B2E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 Codes Your API Should Use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046720" cy="1554480"/>
        </p:xfrm>
        <a:graphic>
          <a:graphicData uri="http://schemas.openxmlformats.org/drawingml/2006/table">
            <a:tbl>
              <a:tblPr/>
              <a:tblGrid>
                <a:gridCol w="1280160"/>
                <a:gridCol w="2377440"/>
                <a:gridCol w="438912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Examples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2xx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 · 201 Created · 204 No Content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4xx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error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Bad Request · 401 Unauthorized · 404 Not Found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5xx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error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Internal Server Error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337560"/>
            <a:ext cx="8046720" cy="868680"/>
          </a:xfrm>
          <a:prstGeom prst="roundRect">
            <a:avLst>
              <a:gd name="adj" fmla="val 7368"/>
            </a:avLst>
          </a:prstGeom>
          <a:solidFill>
            <a:srgbClr val="10263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342900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3666744"/>
            <a:ext cx="7589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codes let API consumers (frontend, mobile apps, other services) react programmatically — without parsing your error message text.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0" y="384048"/>
            <a:ext cx="384048" cy="384048"/>
          </a:xfrm>
          <a:prstGeom prst="ellipse">
            <a:avLst/>
          </a:prstGeom>
          <a:solidFill>
            <a:srgbClr val="121B2E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 — Build a Books API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8046720" cy="2286000"/>
          </a:xfrm>
          <a:prstGeom prst="roundRect">
            <a:avLst>
              <a:gd name="adj" fmla="val 3200"/>
            </a:avLst>
          </a:prstGeom>
          <a:solidFill>
            <a:srgbClr val="121B2E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928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small Express server with an in-memory array of books. Create routes: GET /books (all books), GET /books/:id (one book, with a 404 if missing), POST /books (add a book using req.body, validate that title exists), PUT /books/:id (replace a book), and DELETE /books/:id (remove a book, respond 204).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used: app.get/post/put/delete, route params, req.body, express.json(), status codes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0" y="384048"/>
            <a:ext cx="384048" cy="384048"/>
          </a:xfrm>
          <a:prstGeom prst="ellipse">
            <a:avLst/>
          </a:prstGeom>
          <a:solidFill>
            <a:srgbClr val="121B2E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Middleware?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that sits between the incoming request and the final route handler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access to req, res, and a next() function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inspect/modify the request, end the response early, or pass control forward with next()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logging, authentication, validation, parsing, and error handling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8046720" cy="868680"/>
          </a:xfrm>
          <a:prstGeom prst="roundRect">
            <a:avLst>
              <a:gd name="adj" fmla="val 7368"/>
            </a:avLst>
          </a:prstGeom>
          <a:solidFill>
            <a:srgbClr val="10263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2519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4489704"/>
            <a:ext cx="7589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middleware as airport security checkpoints — each one inspects you, then waves you forward (next()) toward your gate (the route handler).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0" y="384048"/>
            <a:ext cx="384048" cy="384048"/>
          </a:xfrm>
          <a:prstGeom prst="ellipse">
            <a:avLst/>
          </a:prstGeom>
          <a:solidFill>
            <a:srgbClr val="121B2E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→ Response Cycle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Request arrives at the Express app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It passes through middleware in the order registered with app.use()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Each middleware calls next() to hand off control, or sends a response and stops the chain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Once it reaches a matching route, the handler sends the final response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1600200" cy="502920"/>
          </a:xfrm>
          <a:prstGeom prst="roundRect">
            <a:avLst>
              <a:gd name="adj" fmla="val 12727"/>
            </a:avLst>
          </a:prstGeom>
          <a:solidFill>
            <a:srgbClr val="121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703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48840" y="370332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4A6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377440" y="3703320"/>
            <a:ext cx="1600200" cy="502920"/>
          </a:xfrm>
          <a:prstGeom prst="roundRect">
            <a:avLst>
              <a:gd name="adj" fmla="val 12727"/>
            </a:avLst>
          </a:prstGeom>
          <a:solidFill>
            <a:srgbClr val="121B2E"/>
          </a:solidFill>
          <a:ln/>
        </p:spPr>
      </p:sp>
      <p:sp>
        <p:nvSpPr>
          <p:cNvPr id="11" name="Text 9"/>
          <p:cNvSpPr/>
          <p:nvPr/>
        </p:nvSpPr>
        <p:spPr>
          <a:xfrm>
            <a:off x="2377440" y="3703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77640" y="370332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4A6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06240" y="3703320"/>
            <a:ext cx="1600200" cy="502920"/>
          </a:xfrm>
          <a:prstGeom prst="roundRect">
            <a:avLst>
              <a:gd name="adj" fmla="val 12727"/>
            </a:avLst>
          </a:prstGeom>
          <a:solidFill>
            <a:srgbClr val="121B2E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3703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06440" y="370332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4A6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35040" y="3703320"/>
            <a:ext cx="1600200" cy="502920"/>
          </a:xfrm>
          <a:prstGeom prst="roundRect">
            <a:avLst>
              <a:gd name="adj" fmla="val 12727"/>
            </a:avLst>
          </a:prstGeom>
          <a:solidFill>
            <a:srgbClr val="102630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3703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Handler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0" y="384048"/>
            <a:ext cx="384048" cy="384048"/>
          </a:xfrm>
          <a:prstGeom prst="ellipse">
            <a:avLst/>
          </a:prstGeom>
          <a:solidFill>
            <a:srgbClr val="121B2E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Custom Middleware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2743200"/>
          </a:xfrm>
          <a:prstGeom prst="roundRect">
            <a:avLst>
              <a:gd name="adj" fmla="val 2667"/>
            </a:avLst>
          </a:prstGeom>
          <a:solidFill>
            <a:srgbClr val="0A0F1A"/>
          </a:solidFill>
          <a:ln w="12700">
            <a:solidFill>
              <a:srgbClr val="1E2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73352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673352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1673352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92808"/>
            <a:ext cx="74980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logger(req, res, next)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console.log(`${req.method} ${req.url}`);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next();   // always call next() or the request hangs forever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app.use(logger);   // applies to every route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app.get('/admin', logger, (req, res) =&gt; {   // per-route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res.send('Admin panel');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8046720" cy="868680"/>
          </a:xfrm>
          <a:prstGeom prst="roundRect">
            <a:avLst>
              <a:gd name="adj" fmla="val 7368"/>
            </a:avLst>
          </a:prstGeom>
          <a:solidFill>
            <a:srgbClr val="2B221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2519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489704"/>
            <a:ext cx="7589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call next() (or to send a response) leaves the client hanging with no response until it times out.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0" y="384048"/>
            <a:ext cx="384048" cy="384048"/>
          </a:xfrm>
          <a:prstGeom prst="ellipse">
            <a:avLst/>
          </a:prstGeom>
          <a:solidFill>
            <a:srgbClr val="121B2E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 of Middleware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121B2E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783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With Express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express.json(), express.static() — no extra install needed.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60020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121B2E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783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2103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NPM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6060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cors, morgan, helmet — installed separately, wired in with app.use().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60020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121B2E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783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2103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You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0" y="26060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Application-specific logic — auth checks, request logging, input validation.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0" y="384048"/>
            <a:ext cx="384048" cy="384048"/>
          </a:xfrm>
          <a:prstGeom prst="ellipse">
            <a:avLst/>
          </a:prstGeom>
          <a:solidFill>
            <a:srgbClr val="121B2E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Middleware in Action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1828800"/>
          </a:xfrm>
          <a:prstGeom prst="roundRect">
            <a:avLst>
              <a:gd name="adj" fmla="val 4000"/>
            </a:avLst>
          </a:prstGeom>
          <a:solidFill>
            <a:srgbClr val="0A0F1A"/>
          </a:solidFill>
          <a:ln w="12700">
            <a:solidFill>
              <a:srgbClr val="1E2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73352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673352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1673352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92808"/>
            <a:ext cx="7498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app.use(express.static('public'));      // serve images, css, html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app.use(express.json());                // parse JSON bodies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app.use(express.urlencoded({ extended: true }));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parses form data (application/x-www-form-urlencoded)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8046720" cy="868680"/>
          </a:xfrm>
          <a:prstGeom prst="roundRect">
            <a:avLst>
              <a:gd name="adj" fmla="val 7368"/>
            </a:avLst>
          </a:prstGeom>
          <a:solidFill>
            <a:srgbClr val="10263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7490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986784"/>
            <a:ext cx="7589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runs top-to-bottom in registration order. Parsing middleware (json/urlencoded) must come before any route that reads req.body.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0" y="384048"/>
            <a:ext cx="384048" cy="384048"/>
          </a:xfrm>
          <a:prstGeom prst="ellipse">
            <a:avLst/>
          </a:prstGeom>
          <a:solidFill>
            <a:srgbClr val="121B2E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Middleware: cors &amp; morgan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0A0F1A"/>
          </a:solidFill>
          <a:ln w="12700">
            <a:solidFill>
              <a:srgbClr val="1E2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73352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673352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1673352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92808"/>
            <a:ext cx="7498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terminal: npm install cors morgan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cors = require('cors');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morgan = require('morgan');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app.use(cors());            // allow cross-origin requests from your frontend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app.use(morgan('dev'));     // logs 'GET /books 200 12ms' for every request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8046720" cy="868680"/>
          </a:xfrm>
          <a:prstGeom prst="roundRect">
            <a:avLst>
              <a:gd name="adj" fmla="val 7368"/>
            </a:avLst>
          </a:prstGeom>
          <a:solidFill>
            <a:srgbClr val="2B221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84048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078224"/>
            <a:ext cx="7589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cors(), a React app on localhost:3000 calling an API on localhost:5000 gets blocked by the browser's same-origin policy.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0" y="384048"/>
            <a:ext cx="384048" cy="384048"/>
          </a:xfrm>
          <a:prstGeom prst="ellipse">
            <a:avLst/>
          </a:prstGeom>
          <a:solidFill>
            <a:srgbClr val="121B2E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Error-Handling Middleware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2743200"/>
          </a:xfrm>
          <a:prstGeom prst="roundRect">
            <a:avLst>
              <a:gd name="adj" fmla="val 2667"/>
            </a:avLst>
          </a:prstGeom>
          <a:solidFill>
            <a:srgbClr val="0A0F1A"/>
          </a:solidFill>
          <a:ln w="12700">
            <a:solidFill>
              <a:srgbClr val="1E2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73352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673352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1673352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92808"/>
            <a:ext cx="74980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app.get('/risky', (req, res, next) =&gt;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 /* ...something risky... */ 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catch (err) { next(err); }   // pass errors to Express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 params = error handler; must be registered LAST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app.use((err, req, res, next) =&gt;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console.error(err.stack);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res.status(err.status || 500).json({ error: err.message });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8046720" cy="868680"/>
          </a:xfrm>
          <a:prstGeom prst="roundRect">
            <a:avLst>
              <a:gd name="adj" fmla="val 7368"/>
            </a:avLst>
          </a:prstGeom>
          <a:solidFill>
            <a:srgbClr val="2B221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2519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489704"/>
            <a:ext cx="7589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Error-handling middleware must be defined last, after all other app.use() and routes, and must take exactly 4 parameters.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0" y="384048"/>
            <a:ext cx="384048" cy="384048"/>
          </a:xfrm>
          <a:prstGeom prst="ellipse">
            <a:avLst/>
          </a:prstGeom>
          <a:solidFill>
            <a:srgbClr val="121B2E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Middleware Stack, In Order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cors()  —  allow the frontend to call this API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197510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morgan('dev')  —  log every incoming request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express.json()  —  parse JSON request bodies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28163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Route-specific middleware  —  auth checks, validation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323697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Route handlers  —  the actual GET/POST/PUT/DELETE logic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404 handler  —  catch unmatched routes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40782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Error-handling middleware  —  always last, 4 parameters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0" y="384048"/>
            <a:ext cx="384048" cy="384048"/>
          </a:xfrm>
          <a:prstGeom prst="ellipse">
            <a:avLst/>
          </a:prstGeom>
          <a:solidFill>
            <a:srgbClr val="121B2E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 — Logging &amp; Crash Recovery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121B2E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928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custom middleware that logs the request method, URL, and timestamp for every incoming request. Then write a route GET /crash that intentionally throws an error, and a final error-handling middleware that catches it and responds with a clean JSON error message instead of crashing the server.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used: custom middleware, next(), error-handling middleware, try/catch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0" y="384048"/>
            <a:ext cx="384048" cy="384048"/>
          </a:xfrm>
          <a:prstGeom prst="ellipse">
            <a:avLst/>
          </a:prstGeom>
          <a:solidFill>
            <a:srgbClr val="121B2E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Routes with express.Router()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app grows, keeping every route in one file becomes unmanageable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express.Router() lets you group related routes into their own mini-app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the router on the main app under a base path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8046720" cy="1554480"/>
          </a:xfrm>
          <a:prstGeom prst="roundRect">
            <a:avLst>
              <a:gd name="adj" fmla="val 4706"/>
            </a:avLst>
          </a:prstGeom>
          <a:solidFill>
            <a:srgbClr val="0A0F1A"/>
          </a:solidFill>
          <a:ln w="12700">
            <a:solidFill>
              <a:srgbClr val="1E2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3136392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" y="3136392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225296" y="3136392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55848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routes/users.js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router = require('express').Router();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router.get('/', (req, res) =&gt; res.send('All users'));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= router;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0" y="384048"/>
            <a:ext cx="384048" cy="384048"/>
          </a:xfrm>
          <a:prstGeom prst="ellipse">
            <a:avLst/>
          </a:prstGeom>
          <a:solidFill>
            <a:srgbClr val="121B2E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Mounting a Router on the Main App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1691640"/>
          </a:xfrm>
          <a:prstGeom prst="roundRect">
            <a:avLst>
              <a:gd name="adj" fmla="val 4324"/>
            </a:avLst>
          </a:prstGeom>
          <a:solidFill>
            <a:srgbClr val="0A0F1A"/>
          </a:solidFill>
          <a:ln w="12700">
            <a:solidFill>
              <a:srgbClr val="1E2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73352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673352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1673352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92808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app.js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userRoutes = require('./routes/users');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app.use('/api/users', userRoutes);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/api/users/  now routes into users.js's '/'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8046720" cy="868680"/>
          </a:xfrm>
          <a:prstGeom prst="roundRect">
            <a:avLst>
              <a:gd name="adj" fmla="val 7368"/>
            </a:avLst>
          </a:prstGeom>
          <a:solidFill>
            <a:srgbClr val="10263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47472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712464"/>
            <a:ext cx="7589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structure most real Express projects use: separate route files for users, posts, products, etc., each mounted under its own base path.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0" y="384048"/>
            <a:ext cx="384048" cy="384048"/>
          </a:xfrm>
          <a:prstGeom prst="ellipse">
            <a:avLst/>
          </a:prstGeom>
          <a:solidFill>
            <a:srgbClr val="121B2E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Express Project Structure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3108960"/>
          </a:xfrm>
          <a:prstGeom prst="roundRect">
            <a:avLst>
              <a:gd name="adj" fmla="val 2353"/>
            </a:avLst>
          </a:prstGeom>
          <a:solidFill>
            <a:srgbClr val="0A0F1A"/>
          </a:solidFill>
          <a:ln w="12700">
            <a:solidFill>
              <a:srgbClr val="1E2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73352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673352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1673352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92808"/>
            <a:ext cx="74980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node_modules/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routes/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|-- users.js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`-- books.js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controllers/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`-- bookController.js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middleware/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|-- logger.js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`-- errorHandler.js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app.js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package.json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`-- .gitignore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0" y="384048"/>
            <a:ext cx="384048" cy="384048"/>
          </a:xfrm>
          <a:prstGeom prst="ellipse">
            <a:avLst/>
          </a:prstGeom>
          <a:solidFill>
            <a:srgbClr val="121B2E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Routes from Logic: the Controller Pattern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8046720" cy="2880360"/>
          </a:xfrm>
          <a:prstGeom prst="roundRect">
            <a:avLst>
              <a:gd name="adj" fmla="val 2540"/>
            </a:avLst>
          </a:prstGeom>
          <a:solidFill>
            <a:srgbClr val="0A0F1A"/>
          </a:solidFill>
          <a:ln w="12700">
            <a:solidFill>
              <a:srgbClr val="1E2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27632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627632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1627632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47088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controllers/bookController.js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exports.getAllBooks = (req, res) =&gt; res.json(books);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exports.createBook = (req, res) =&gt;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book = { id: Date.now(), ...req.body };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books.push(book);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res.status(201).json(book);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routes/books.js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getAllBooks, createBook } = require('../controllers/bookController');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router.get('/', getAllBooks);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router.post('/', createBook);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0" y="384048"/>
            <a:ext cx="384048" cy="384048"/>
          </a:xfrm>
          <a:prstGeom prst="ellipse">
            <a:avLst/>
          </a:prstGeom>
          <a:solidFill>
            <a:srgbClr val="121B2E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 — Refactor into a Real Structure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8046720" cy="2194560"/>
          </a:xfrm>
          <a:prstGeom prst="roundRect">
            <a:avLst>
              <a:gd name="adj" fmla="val 3333"/>
            </a:avLst>
          </a:prstGeom>
          <a:solidFill>
            <a:srgbClr val="121B2E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928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the books API from earlier into a proper structure: move the book routes into routes/books.js using express.Router(), move handler logic into controllers/bookController.js, move the logger middleware into middleware/logger.js, and require all of it into a clean app.js that mounts the router at /api/books.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used: express.Router(), controller pattern, module.exports/require, app.use()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— CAPSTONE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0" y="384048"/>
            <a:ext cx="384048" cy="384048"/>
          </a:xfrm>
          <a:prstGeom prst="ellipse">
            <a:avLst/>
          </a:prstGeom>
          <a:solidFill>
            <a:srgbClr val="121B2E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A Complete Products REST API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8046720" cy="2468880"/>
          </a:xfrm>
          <a:prstGeom prst="roundRect">
            <a:avLst>
              <a:gd name="adj" fmla="val 2963"/>
            </a:avLst>
          </a:prstGeom>
          <a:solidFill>
            <a:srgbClr val="121B2E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928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 Products API: GET /api/products, GET /api/products/:id (404 if missing), POST /api/products (validate name &amp; price, 400 if invalid), PUT /api/products/:id, DELETE /api/products/:id (204). Add cors, morgan logging, express.Router() for organization, and a final error-handling middleware. Use correct status codes throughout.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used: full CRUD, validation, Router, middleware stack, status codes, error handling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Express, Routing, Middleware &amp; REST: 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design and build a real, structured backend API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8046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simplifies building servers on top of raw Node http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maps resources to URLs and CRUD operations to HTTP methods, with status codes signaling outcomes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req.params, req.query, and req.body each carry a different kind of data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forms an ordered chain — always call next() or the request hangs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express.Router() plus a controller pattern keeps large apps organized and testable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Express.js, Routing, Middleware &amp; REST APIs</dc:title>
  <dc:subject>PptxGenJS Presentation</dc:subject>
  <dc:creator>MERN Stack Training Series</dc:creator>
  <cp:lastModifiedBy>MERN Stack Training Series</cp:lastModifiedBy>
  <cp:revision>1</cp:revision>
  <dcterms:created xsi:type="dcterms:W3CDTF">2026-06-21T19:02:23Z</dcterms:created>
  <dcterms:modified xsi:type="dcterms:W3CDTF">2026-06-21T19:02:23Z</dcterms:modified>
</cp:coreProperties>
</file>