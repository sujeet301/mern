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JavaScript &amp; DOM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 →  Promises  →  Async/Await  →  Fetch API  →  DOM Manipulation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242316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2423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Hell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26864" y="242316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423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1696" y="242316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1696" y="24231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Chaining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42032" y="292608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92608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11696" y="292608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99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Callbacks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673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callbacks? Why do we use them?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58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Callback 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532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 of doom — why it breaks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18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Promises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3924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fix — then/catch/finally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904488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977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 Promise Chaining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4251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multiple async operations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399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Try/Catch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1673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 gracefully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185416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258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Async/Await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2532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async code like synchronous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044952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118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Fetch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33924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real APIs from the browser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904488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977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DOM Manipulation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4251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Loop, Timers, Document Object Model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Callbacks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Async JavaScript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Callback?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passed as an argument to another function — called later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57200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Normal function call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console.log("Hello, " + name);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greet("Rashmi"); // called directly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Callback: passing a function as argument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greetUser(name, callbackFn)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console.log("Processing...");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callbackFn(name);           // callback gets called inside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greetUser("Rashmi", greet);  // greet is the callback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Processing...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Hello, Rashmi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59552" y="1097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Callbacks?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59552" y="1335024"/>
            <a:ext cx="30632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single-threaded. Callbacks let us say: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this task... and when done, run THIS function."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timers, event listeners, file reads, API calls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27432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283464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Analogy: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food at a restaurant.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your order (callback) to the waiter.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stand in the kitchen — you sit &amp; wait.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food is ready, the waiter calls you back.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with setTimeout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callbacks for delayed / asynchronous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937760" cy="3200400"/>
          </a:xfrm>
          <a:prstGeom prst="roundRect">
            <a:avLst>
              <a:gd name="adj" fmla="val 2286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66344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console.log("Task 1: Start cooking");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Simulating delay (e.g., API call)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console.log("Task 2: Data received!");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2000);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console.log("Task 3: Continue with other work");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1: Start cooking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3: Continue with other 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2: Data received!  (after 2 seconds)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40680" y="100584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05272" y="1097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Execution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05272" y="1335024"/>
            <a:ext cx="301752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"Task 1" runs immediately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setTimeout registers callback → sends to Web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"Task 3" runs immediately (stack not blocked)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After 2s → callback moves to queue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Event Loop → runs callback → "Task 2" prints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40680" y="338328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5272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Insight: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callback does NOT pause the program.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continues executing the next line.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non-blocking asynchronous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Callbacks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and using callback functions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EEF2FF"/>
          </a:solidFill>
          <a:ln w="15240">
            <a:solidFill>
              <a:srgbClr val="1E2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loadUser(userId, callback) that: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Simulates a 1-second delay using setTimeout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After the delay, creates a user object { id: userId, name: "Student"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Calls the callback with that user object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call loadUser(101, function(user)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console.log("User loaded:", user.name);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(after 1s):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loaded: Student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Bonus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289304"/>
            <a:ext cx="28803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loadUser to also accept an onError callback.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userId &lt; 1, call onError("Invalid ID") instead.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2880360"/>
            <a:ext cx="3154680" cy="1737360"/>
          </a:xfrm>
          <a:prstGeom prst="roundRect">
            <a:avLst>
              <a:gd name="adj" fmla="val 421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971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pass callback as argument?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don't use a callback here?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Callback Hell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 of Doom — why nested callbacks break everything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Callback Hell?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callbacks — hard to read, debug, and maintain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84632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Scenario: Login → Get Profile → Get Orders → Show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loginUser("rashmi", function(user)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getUserProfile(user.id, function(profile)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getUserOrders(profile.id, function(orders)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displayOrders(orders, function(result)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console.log("Done:", result);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Imagine MORE nesting here...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0F0"/>
          </a:solidFill>
          <a:ln w="1524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97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Problems with this: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41732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read — code drifts right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debug — errors buried deep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— changing one thing breaks all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repeated at every level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run steps in parallel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 of Doom 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async step requires a callback — creating deep nesting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438912"/>
          </a:xfrm>
          <a:prstGeom prst="roundRect">
            <a:avLst>
              <a:gd name="adj" fmla="val 1041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loginUser()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7772400" cy="438912"/>
          </a:xfrm>
          <a:prstGeom prst="roundRect">
            <a:avLst>
              <a:gd name="adj" fmla="val 10417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8191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getUserProfile()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112264"/>
            <a:ext cx="7132320" cy="438912"/>
          </a:xfrm>
          <a:prstGeom prst="roundRect">
            <a:avLst>
              <a:gd name="adj" fmla="val 10417"/>
            </a:avLst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1226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getUserOrders()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2642616"/>
            <a:ext cx="6492240" cy="438912"/>
          </a:xfrm>
          <a:prstGeom prst="roundRect">
            <a:avLst>
              <a:gd name="adj" fmla="val 10417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6426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displayOrders()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172968"/>
            <a:ext cx="5943600" cy="438912"/>
          </a:xfrm>
          <a:prstGeom prst="roundRect">
            <a:avLst>
              <a:gd name="adj" fmla="val 10417"/>
            </a:avLst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17296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→ (more callbacks...)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931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— introduced in ES6 to flatten this structure and handle async code in a clean, readable chain.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Promises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way to handle async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Promise?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representing eventual completion (or failure) of an async operation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75488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Creating a Promise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myPromise = new Promise(function(resolve, reject)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success = true;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(success)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resolve("Data loaded!");    // fulfilled 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reject("Something failed"); // rejected 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Consuming the Promise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myPromise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.then(function(result)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console.log(result);  // "Data loaded!"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.catch(function(error)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console.log(error);   // "Something failed"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154680" cy="1078992"/>
          </a:xfrm>
          <a:prstGeom prst="roundRect">
            <a:avLst>
              <a:gd name="adj" fmla="val 5932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97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38988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in progress.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212848"/>
            <a:ext cx="3154680" cy="1078992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3042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Fulfilled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59689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succeeded.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 was called.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419856"/>
            <a:ext cx="3154680" cy="1078992"/>
          </a:xfrm>
          <a:prstGeom prst="roundRect">
            <a:avLst>
              <a:gd name="adj" fmla="val 5932"/>
            </a:avLst>
          </a:prstGeom>
          <a:solidFill>
            <a:srgbClr val="FFF0F0"/>
          </a:solidFill>
          <a:ln w="1524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5112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Rejected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42432" y="380390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failed.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reject() was called.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 .catch()  .finally()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handlers for consuming a Promise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75488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fetchData(shouldFail)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Promise(function(resolve, reject)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(!shouldFail)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resolve({ name: "Rashmi", role: "Dev"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else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reject("Server error: 500");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fetchData(false)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.then(function(data)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console.log("Success:", data.name); // "Rashmi"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.catch(function(err)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console.log("Error:", err);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.finally(function()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console.log("Request complete."); // always runs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972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then()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335024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Promise resolves (success).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resolved value.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084832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176272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catch()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Promise rejects (error).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rejection reason.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3072384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316382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finally()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42432" y="3401568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— success OR failure.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cleanup (hide loader, etc.)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Promises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promise-based data loader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EEF2FF"/>
          </a:solidFill>
          <a:ln w="15240">
            <a:solidFill>
              <a:srgbClr val="1E2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function getWeather(city) that returns a Promise.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After 1.5s, if city === "Delhi" → resolve with { temp: 38, weather: "Sunny"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If city is anything else → reject with "City not found"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and handle: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Success → print "Delhi: 38°C, Sunny"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Error → print "Error: City not found"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Finally → print "Weather fetch complete"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(Delhi):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Delhi: 38°C, Sunny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fetch complete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54680" cy="1645920"/>
          </a:xfrm>
          <a:prstGeom prst="roundRect">
            <a:avLst>
              <a:gd name="adj" fmla="val 4444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289304"/>
            <a:ext cx="28803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Promise constructor: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Promise(function(resolve, reject) {...})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setTimeout to simulate async delay.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269748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788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Next Step: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need to call 2 APIs one after another?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That's Promise Chaining!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Promise Chaining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multiple async operations in sequence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Chaining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.then() returns a new Promise — allowing sequential async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846320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Login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loginUser(email)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Promise(function(resolve)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resolve({ email, id: 1 }), 500);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Get profile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getProfile(user)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Promise(function(resolve)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resolve({ ...user, name: "Rashmi" }), 500);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Get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getOrders(profile)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Promise(function(resolve)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resolve(["Order#1", "Order#2"]), 500);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CHAINED — clean, readable, flat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loginUser("rashmi@test.com")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.then(user =&gt; getProfile(user))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.then(profile =&gt; getOrders(profile))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.then(orders =&gt; console.log("Orders:", orders))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console.log("Error:", err));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23560" y="96012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E8F5FF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88152" y="1051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vs Callback 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88152" y="13716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structure (no pyramid)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.catch() handles all errors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add/remove steps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flows to next .then()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easier to read &amp; maintain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3456432"/>
            <a:ext cx="3108960" cy="1344168"/>
          </a:xfrm>
          <a:prstGeom prst="roundRect">
            <a:avLst>
              <a:gd name="adj" fmla="val 5442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8152" y="3547872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.then() must return a Promise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chain to continue correctly.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 &amp;  Promise.race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promises simultaneously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7548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Promise.all — run ALL in parallel, wait for 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p1 = fetch("https://api.example.com/user");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p2 = fetch("https://api.example.com/orders");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Promise.all([p1, p2])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.then(function([userData, ordersData])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console.log("All done:", userData, ordersData);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.catch(function(err)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console.log("One failed:", err); // if ANY rejects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340156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47548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Promise.race — resolves with FIRST settled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Promise.race([p1, p2])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.then(function(firstResult)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console.log("Fastest:", firstResult);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0972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Promise.all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1335024"/>
            <a:ext cx="28803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ALL to resolve.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rejects → immediately rejects.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all results are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4688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25603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Promise.race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42432" y="2798064"/>
            <a:ext cx="28803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Resolves/rejects with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settled promise.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timeouts or fastest response.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93192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402336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Promise.allSettled() — waits for all,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result of each (no rejection stop).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Try / Catch / Finally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 in synchronous and async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— prevent crashes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75488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Basic try/catch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result = JSON.parse("{ invalid json }");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console.log(result);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console.log("Caught error:", error.message);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console.log("This always runs");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Caught error: Unexpected token i...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always runs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errors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divide(a, b)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=== 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Error("Cannot divide by zero!");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/ 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console.log(divide(10, 0));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console.log("Error:", err.message);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"Error: Cannot divide by zero!"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972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try {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335024"/>
            <a:ext cx="28803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throw an error.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throws → jumps to catch.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039112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1305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catch(err) {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368296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Error object.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err.message → human-readable 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err.name → type of error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209544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30098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finally {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42432" y="3538728"/>
            <a:ext cx="28803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 matter what.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cleanup: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DB, hide spinner, log.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4242816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433425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throw keyword creates a custom error.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new Error("message") — gives stack trace.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Async / Await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async code that reads like synchronous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sugar over Promises — cleaner, more readable async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Promise chain way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loginUser("rashmi@test.com")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.then(user =&gt; getProfile(user))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.then(profile =&gt; getOrders(profile))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.then(orders =&gt; console.log("Orders:", orders))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console.log("Error:", err));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Async/Await way — reads like sync code!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loadUserData()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    = await loginUser("rashmi@test.com");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profile = await getProfile(user);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orders  = await getOrders(profile);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console.log("Orders:", orders);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console.log("Error:", err);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loadUserData();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keyword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function return a Promise automatically.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 doWork()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returns a Promise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130552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221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keyword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459736"/>
            <a:ext cx="28803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execution INSIDE the async function.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Promise to resolve.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app is NOT blocked.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392424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483864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await can only be used INSIDE an async function.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await at the top level (outside a function).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437083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446227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wrap await calls in try/catch for error handling.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+ Try/Catch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pattern for production async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84632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getUserData(userId)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Step 1: Fetch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userRes = await fetch(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`https://jsonplaceholder.typicode.com/users/${userId}`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(!userRes.ok)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Error("User not found: " + userRes.status);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 = await userRes.json();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console.log("User:", user.name);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Step 2: Fetch their posts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postsRes = await fetch(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`https://jsonplaceholder.typicode.com/posts?userId=${userId}`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posts = await postsRes.json();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console.log("Posts count:", posts.length);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user, posts 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console.error("Failed:", error.message);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error; // re-throw for caller to handle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console.log("Request finished");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getUserData(1);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23560" y="96012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88152" y="1051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Pattern Summary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88152" y="1289304"/>
            <a:ext cx="283464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Mark function 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await each Promise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wrap in try/catch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finally for cleanup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GOLD STANDARD for real-world async code.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324612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8152" y="3337560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response.ok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200-299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400/500 → false (NOT auto-rejected)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res.ok after fetch!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Async/Await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async data loader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EEF2FF"/>
          </a:solidFill>
          <a:ln w="15240">
            <a:solidFill>
              <a:srgbClr val="1E2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this Promise chain to async/await: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getStudent(id) { /* returns Promise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getCourses(student) { /* returns Promise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getGrades(courses) { /* returns Promise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Original chain: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getStudent(1)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.then(s =&gt; getCourses(s))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.then(c =&gt; getGrades(c))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.then(g =&gt; console.log("Grades:", g))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.catch(e =&gt; console.log("Error:", e));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Rewrite as an async function loadStudentReport(id)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error handling using try/catch.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Bonus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289304"/>
            <a:ext cx="288036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loadStudentReport: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a finally block that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"Report generation complete"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Handle case where id &lt; 1 → throw custom error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306324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31546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use .then() chains vs async/await?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async/await for readability; .then() for quick one-liners.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Fetch API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real HTTP requests from the browser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browser API for making HTTP requests — returns a Promise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Basic GET request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fetch("https://jsonplaceholder.typicode.com/users/1")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.then(function(response)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console.log(response.status); // 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response.json();       // parse JSON body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.then(function(data)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console.log(data.name);       // "Leanne Graham"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.catch(function(error)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console.log("Fetch failed:", error);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Better: Async/Await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getUser(id)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  = await fetch(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`https://jsonplaceholder.typicode.com/users/${id}`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Error("HTTP " + res.status);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 = await res.json();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console.log("Name:", user.name);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console.log("Error:", err.message);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getUser(1);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How Fetch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fetch(url) → returns Promise&lt;Response&gt;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response.json() → returns Promise&lt;data&gt;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Two awaits needed: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let res = await fetch(url)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let data = await res.json()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953512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3044952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fetch() only rejects on NETWORK error.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404, 500 → still resolves!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response.ok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4123944"/>
            <a:ext cx="3154680" cy="676656"/>
          </a:xfrm>
          <a:prstGeom prst="roundRect">
            <a:avLst>
              <a:gd name="adj" fmla="val 1081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4215384"/>
            <a:ext cx="28803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 test API: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jsonplaceholder.typicode.com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fake users, posts, comments.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— POST Request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data to a server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846320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createPost(title, body)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response = await fetch(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"https://jsonplaceholder.typicode.com/posts",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method: "POST",         // HTTP method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headers: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"Content-Type": "application/json"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JSON.stringify({  // convert to JSON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title,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body: body,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userId: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(!response.ok)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Error("Failed to create post");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newPost = await response.json();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console.log("Created:", newPost.id, newPost.title);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console.log("Error:", err.message);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createPost("My First Post", "Hello from Async JS!");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645920"/>
          </a:xfrm>
          <a:prstGeom prst="roundRect">
            <a:avLst>
              <a:gd name="adj" fmla="val 4444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Fetch Options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'GET'|'POST'|'PUT'|'DELETE'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{ 'Content-Type':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JSON.stringify(data)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'include' (cookies)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679192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77063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JSON flow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3008376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Sending: JS object → JSON.stringify()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Receiving: response.json() → JS object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758184"/>
            <a:ext cx="3154680" cy="786384"/>
          </a:xfrm>
          <a:prstGeom prst="roundRect">
            <a:avLst>
              <a:gd name="adj" fmla="val 9302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849624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response.json() is async!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awaited or .then()'d.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Fetch API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real API call and display the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EEF2FF"/>
          </a:solidFill>
          <a:ln w="15240">
            <a:solidFill>
              <a:srgbClr val="1E2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https://jsonplaceholder.typicode.com/posts: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GET: Write an async function getPosts() that: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Fetches all posts from /posts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Logs the title of the first 3 posts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Handles errors with try/catch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POST: Write an async function addPost(title) that: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Sends a POST to /posts with { title, body: "test", userId: 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Logs "Created post ID: X" on success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Logs "Failed: &lt;error&gt;" on failure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Call both functions from your script.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54680" cy="1737360"/>
          </a:xfrm>
          <a:prstGeom prst="roundRect">
            <a:avLst>
              <a:gd name="adj" fmla="val 4211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Checklist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289304"/>
            <a:ext cx="288036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async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await fetch()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res.ok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await res.json()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try/catch around 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278892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88036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You can test these directly 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Browser DevTools Console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VS Code with Node.js + node-fetch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Event Loop &amp; Timers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JavaScript handles async behind the scenes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that makes async possible in single-threaded JavaScript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console.log("1: Start");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console.log("3: setTimeout (0ms)");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console.log("2: Promise microtask");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console.log("4: End");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1: Start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4: 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2: Promise microtask    ← microtask queue first!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3: setTimeout (0ms)     ← task queue second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154680" cy="3474720"/>
          </a:xfrm>
          <a:prstGeom prst="roundRect">
            <a:avLst>
              <a:gd name="adj" fmla="val 2319"/>
            </a:avLst>
          </a:prstGeom>
          <a:solidFill>
            <a:srgbClr val="F0F4FF"/>
          </a:solidFill>
          <a:ln w="15240">
            <a:solidFill>
              <a:srgbClr val="1E24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97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Event Loop Steps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4173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all synchronous code (Call Stack)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all microtasks (Promises)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next macrotask (setTimeout, setInterval)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from step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42432" y="3310128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7024" y="3401568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Microtasks (Promises) ALWAYS run before macrotasks (setTimeout).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Promise prints before 0ms setTimeout!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 &amp;  setInterval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code to run after a delay or repeatedly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setTimeout — run ONCE after delay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timerId = setTimeout(function()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console.log("Runs once after 2 seconds");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2000);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clearTimeout(timerId); // cancel before it fires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setInterval — run REPEATEDLY every N 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count 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intervalId = setInterval(function()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console.log("Count:", count++);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(count &gt; 5)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clearInterval(intervalId);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console.log("Stopped!");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1000);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 (every 1 second):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Count: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Count: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Count: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Count: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Stopped!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setTimeout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callback ONCE after X ms.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clearTimeout(id) cancels 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0ms is async!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130552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221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setInterval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459736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callback every X ms.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clearInterval(id) stops 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save the returned ID.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300984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392424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setInterval doesn't guarantee exact timing.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recursive setTimeout for precise intervals in production.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4288536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4379976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clearInterval when component unmounts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 to avoid memory leaks.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9: DOM Manipulation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Selecting, creating, and modifying HTML elements with JavaScript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645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 — the browser's tree representation of the webpage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id="main"&gt;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 class="title"&gt;Hello DOM&lt;/h1&gt;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&lt;p&gt;Paragraph&lt;/p&gt;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DOM Tree: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document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└── 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├── head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└── body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└── div#main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├── h1.title  ("Hello DOM")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└── p         ("Paragraph")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 accessing the DOM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console.log(document.title);       // page title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document.body.style.background = "lightblue";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console.log(document.getElementById("main"));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DOM = Tree of Objects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tag → JavaScript object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root of the tree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never touches HTML directly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manipulates the DOM objects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587752"/>
            <a:ext cx="3154680" cy="2121408"/>
          </a:xfrm>
          <a:prstGeom prst="roundRect">
            <a:avLst>
              <a:gd name="adj" fmla="val 3448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679192"/>
            <a:ext cx="288036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Node Types: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 node → HTML tag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node → text inside tag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Attribute node → id, class, src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node → root (document)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Selection Methods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elements on the 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By ID (returns single element)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title = document.getElementById("title");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console.log(title.textContent); // "Hello DOM"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By Class (returns HTMLCollection)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items = document.getElementsByClassName("card");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items[0].style.color = "blue"; // index to access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querySelector — first match (CSS selector)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first = document.querySelector(".card");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para  = document.querySelector("#para");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tag   = document.querySelector("h2");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querySelectorAll — ALL matches (NodeList)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allCards = document.querySelectorAll(".card");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allCards.forEach(function(card)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card.style.background = "yellow";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33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4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42432" y="13075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single element. Fast.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92808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965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4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getElementsByClassName()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42432" y="2240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HTMLCollection. Live.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25496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E8F5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28986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4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42432" y="31729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match. CSS selector.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758184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38313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4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41056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matches. NodeList. forEach ok.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Content &amp; Styling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changing element content and styles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el = document.getElementById("box");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Content 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"New Text";    // sets plain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el.innerText   = "Visible Only";// only visible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  = "&lt;b&gt;Bold!&lt;/b&gt;";// parses HTML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Inline Styles 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el.style.backgroundColor = "lightblue"; // camelCase!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el.style.color     = "white";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el.style.width     = "200px";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el.style.fontSize  = "18px";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Classes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el.classList.add("active");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el.classList.remove("hidden");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el.classList.toggle("selected");       // add if missing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console.log(el.classList.contains("active")); // true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Attributes 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el.getAttribute("src");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el.setAttribute("src", "new.jpg");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Content APIs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→ raw text (safe)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innerText → visible text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→ parses HTML (⚠️ XSS risk!)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130552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221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Style in 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459736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camelCase: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background-color → backgroundColor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→ fontSize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→ borderRadius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300984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39242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use innerHTML with user input!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textContent instead to prevent XSS attacks.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4197096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428853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classList is preferred over className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adding/removing individual classes.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Removing Elements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building the DOM with JavaScript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2173A"/>
          </a:solidFill>
          <a:ln w="12700">
            <a:solidFill>
              <a:srgbClr val="121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75488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container = document.getElementById("list");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Create element 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newItem = document.createElement("li");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newItem.textContent = "New List Item";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newItem.classList.add("item");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Add to DOM 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container.appendChild(newItem);    // 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container.prepend(newItem);        // beginning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container.append(newItem, "text"); // multiple / text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Remove 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newItem.remove();                  // direct remove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container.removeChild(newItem);    // via parent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DOM Traversal 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parent   = newItem.parentElement;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children = container.children;         //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allNodes = container.childNodes;       // incl.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next     = newItem.nextElementSibling;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prev     = newItem.previousElementSibling;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first    = container.firstElementChild;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last     = container.lastElementChild;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Create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2432" y="1289304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document.createElement('tag')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creates element in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appended to show on page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039112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1305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368296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appendChild → one element, at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→ multiple or text, at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→ at the beginning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118104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20954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Remove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42432" y="3447288"/>
            <a:ext cx="28803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el.remove() → cleanest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parent.removeChild(el) → legacy 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4105656"/>
            <a:ext cx="3154680" cy="704088"/>
          </a:xfrm>
          <a:prstGeom prst="roundRect">
            <a:avLst>
              <a:gd name="adj" fmla="val 10390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4197096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Traversal: parentElement, children,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nextElementSibling — navigate the tree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re-querying.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DOM Manipulation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dynamic list manager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EEF2FF"/>
          </a:solidFill>
          <a:ln w="15240">
            <a:solidFill>
              <a:srgbClr val="1E2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Task List using pure DOM manipulation: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given: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id="taskInput" placeholder="Enter task"&gt;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 id="addBtn"&gt;Add Task&lt;/button&gt;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 id="taskList"&gt;&lt;/ul&gt;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 button click → read input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a new &lt;li&gt; with that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a "Delete" button inside each &lt;li&gt;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Clicking Delete → removes that &lt;li&gt;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If input is empty → alert "Please enter a task"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counter showing "X tasks remaining"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E0FAF4"/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051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DOM Methods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289304"/>
            <a:ext cx="28803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document.getElementById()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createElement(), appendChild()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textContent, classList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event listener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element.remove()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3154680"/>
            <a:ext cx="3154680" cy="1600200"/>
          </a:xfrm>
          <a:prstGeom prst="roundRect">
            <a:avLst>
              <a:gd name="adj" fmla="val 4571"/>
            </a:avLst>
          </a:prstGeom>
          <a:solidFill>
            <a:srgbClr val="FFF8E1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324612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This pattern forms the core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virtual DOM reconciliation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on this in the next class!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033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Callbacks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functions to be called later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901952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Callback Hell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249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callbacks → hard to read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43784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Promises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191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fulfilled / rejected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85616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 Promise Chaining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4133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sequential async 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033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Try/Catch/Finally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901952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Async/Await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249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readable async syntax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43784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Fetch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191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→ JSON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785616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252D6B"/>
          </a:solidFill>
          <a:ln w="12700">
            <a:solidFill>
              <a:srgbClr val="3A4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DOM Manipulation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4133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create, style, remove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Class: React.js — Components, Props, State, Hooks &amp; JSX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JavaScript &amp; DOM Manipulation</dc:title>
  <dc:subject>PptxGenJS Presentation</dc:subject>
  <dc:creator>PptxGenJS</dc:creator>
  <cp:lastModifiedBy>PptxGenJS</cp:lastModifiedBy>
  <cp:revision>1</cp:revision>
  <dcterms:created xsi:type="dcterms:W3CDTF">2026-06-12T04:39:32Z</dcterms:created>
  <dcterms:modified xsi:type="dcterms:W3CDTF">2026-06-12T04:39:32Z</dcterms:modified>
</cp:coreProperties>
</file>